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大家好。呢個係青嵐世家。</a:t>
            </a:r>
          </a:p>
          <a:p>
            <a:r>
              <a:t>唔係又一個點擊升級遊戲。你入去唔係一個數字，而係一間住喺青嵐山門嘅修仙世家。</a:t>
            </a:r>
          </a:p>
          <a:p>
            <a:r>
              <a:t>你係天道：睇住人長大、結緣、走火、身死道消；間中伸手改命。</a:t>
            </a:r>
          </a:p>
          <a:p>
            <a:r>
              <a:t>而家就可以玩：yip-lgtm.github.io/family</a:t>
            </a:r>
          </a:p>
          <a:p>
            <a:r>
              <a:t>源碼喺 github.com/yip-lgtm/family</a:t>
            </a:r>
          </a:p>
          <a:p>
            <a:r>
              <a:t>今日三分鐘：做咩、點做出嚟、點玩。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傳統放置遊戲：你係農夫，囤資源、買升級、睇數字。</a:t>
            </a:r>
          </a:p>
          <a:p>
            <a:r>
              <a:t>青嵐唔係。畫面中間個靈樞可以聚氣，但真正玩法係右邊同下面：一班有根骨、心性、境界、壽元、心情、關係網嘅人。</a:t>
            </a:r>
          </a:p>
          <a:p>
            <a:r>
              <a:t>你用業力賜福、降天劫、種心魔、或者指派去丹房藏經閣。</a:t>
            </a:r>
          </a:p>
          <a:p>
            <a:r>
              <a:t>你少出手，山門自己過月。你出手，就係改命。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介面就係天道嘅工作台。</a:t>
            </a:r>
          </a:p>
          <a:p>
            <a:r>
              <a:t>上面係曆法、靈氣、業力。時間可以停、可以快轉。</a:t>
            </a:r>
          </a:p>
          <a:p>
            <a:r>
              <a:t>中間係山門地圖：人會自己去後山冒險、丹房煉丹、藏經閣讀書、雲市交易。</a:t>
            </a:r>
          </a:p>
          <a:p>
            <a:r>
              <a:t>點一個人，睇根骨心性境界心事記憶。</a:t>
            </a:r>
          </a:p>
          <a:p>
            <a:r>
              <a:t>天道三鍵好貴：賜福八業、天劫十二、心魔十、指派三。</a:t>
            </a:r>
          </a:p>
          <a:p>
            <a:r>
              <a:t>左邊傳承：家訓、老祖突破、揀天賦。金丹同元嬰會金光一閃。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開局六個人，全部寫咗性格，唔係隨機數。</a:t>
            </a:r>
          </a:p>
          <a:p>
            <a:r>
              <a:t>青玄機鎮山門，金丹後期，壽元同普通人唔同，死唔到——因為冇老祖就冇世家。</a:t>
            </a:r>
          </a:p>
          <a:p>
            <a:r>
              <a:t>沈清梧穩、顧家。葉疏影冷、準、同清梧有舊怨。白無塵外來、身世成謎。蒼小魚貪生識時務。嵐七七細、靈、成日問不該問嘅嘢。</a:t>
            </a:r>
          </a:p>
          <a:p>
            <a:r>
              <a:t>每個月佢哋自己揀修煉、冒險、煉丹、讀書、交際、交易或者歇息。會生病、心魔、走火、身死。死咗，功法可以留低。</a:t>
            </a:r>
          </a:p>
          <a:p>
            <a:r>
              <a:t>你招人，招嚟嘅係新角色，唔係再加一點 DPS。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呢度係產品最特別嘅一層：編劇組。</a:t>
            </a:r>
          </a:p>
          <a:p>
            <a:r>
              <a:t>結構致敬《教父》三部曲：血色開端、雙生歲月、最後輓歌。致敬節奏同主題，唔抄對白，唔抄人名。</a:t>
            </a:r>
          </a:p>
          <a:p>
            <a:r>
              <a:t>每兩個月自動一場戲，你亦可以撳下一場。</a:t>
            </a:r>
          </a:p>
          <a:p>
            <a:r>
              <a:t>接咗 OpenRouter，預設免費路由。API Key 只存在你部瀏覽器，我哋伺服器唔存。</a:t>
            </a:r>
          </a:p>
          <a:p>
            <a:r>
              <a:t>冇 Key 或者模型失敗，就用劇組代班——仍然有完整場面，遊戲唔會爛。</a:t>
            </a:r>
          </a:p>
          <a:p>
            <a:r>
              <a:t>場戲會寫入角色心事同關係，所以下個月世界會唔同。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美術全部 CSS 同 Canvas，無外部圖，載入快，GitHub Pages 穩。</a:t>
            </a:r>
          </a:p>
          <a:p>
            <a:r>
              <a:t>音效用 Web Audio 合成木魚磬雷，唔使下載音檔。</a:t>
            </a:r>
          </a:p>
          <a:p>
            <a:r>
              <a:t>背景音樂係嗶哩官方嵌入《中國風純音樂》，有牌有鏈接。右下角可縮成一條，唔擋地圖。</a:t>
            </a:r>
          </a:p>
          <a:p>
            <a:r>
              <a:t>技術棧刻意薄：Vite、原生 JS。規則引擎同編劇組分開。npm run dev 或者直接開 Pages。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製作唔係先畫皮。先問：玩家係邊個？答案係天道。</a:t>
            </a:r>
          </a:p>
          <a:p>
            <a:r>
              <a:t>第二先寫規則引擎 world.js：每個月人自己揀去邊、會病、會走火、會死，業力先可以改命。</a:t>
            </a:r>
          </a:p>
          <a:p>
            <a:r>
              <a:t>第三先有編劇組 screenplay.js：三幕致敬教父節奏，劇組代班保證冇 Key 都有戲。</a:t>
            </a:r>
          </a:p>
          <a:p>
            <a:r>
              <a:t>第四先上金漆：CSS、Canvas、Web Audio、嗶哩官方嵌入。無外部圖，Pages 先載得快。</a:t>
            </a:r>
          </a:p>
          <a:p>
            <a:r>
              <a:t>第五現場試：Vite 開 /family/，改完即睇。BGM 太大、文案唔順，呢一步先修。</a:t>
            </a:r>
          </a:p>
          <a:p>
            <a:r>
              <a:t>第六出貨：npm run build，推 gh-pages，base 設 /family/，就係而家呢個站。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工程刻意薄：六個檔，冇框架組件庫。</a:t>
            </a:r>
          </a:p>
          <a:p>
            <a:r>
              <a:t>world 管規則，screenplay 管戲，main 管天道介面，style、fx、audio 管現場。</a:t>
            </a:r>
          </a:p>
          <a:p>
            <a:r>
              <a:t>每日回路就係：改一條規則或者一句文案，開 Vite 睇，覺得山門仲似一間屋，先 commit。</a:t>
            </a:r>
          </a:p>
          <a:p>
            <a:r>
              <a:t>出貨唔使後端：build 完推 gh-pages，base 係 /family/。</a:t>
            </a:r>
          </a:p>
          <a:p>
            <a:r>
              <a:t>三條紅線：唔偷嗶哩音、唔抄教父對白、Key 唔上伺服器。劇組代班永遠兜底。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示範四步。</a:t>
            </a:r>
          </a:p>
          <a:p>
            <a:r>
              <a:t>一：打開 yip-lgtm.github.io/family ，撳承天命。</a:t>
            </a:r>
          </a:p>
          <a:p>
            <a:r>
              <a:t>二：點一個角色，睇心事。建議先睇沈清梧同葉疏影——佢哋有舊怨，戲先有衝突。</a:t>
            </a:r>
          </a:p>
          <a:p>
            <a:r>
              <a:t>三：開時間，等編劇組兩場。第一幕會寫權力同聯姻。</a:t>
            </a:r>
          </a:p>
          <a:p>
            <a:r>
              <a:t>四：只用一次天道：賜福或者天劫。然後停手。好嘅天道唔係不停改，而係改完就睇。</a:t>
            </a:r>
          </a:p>
          <a:p>
            <a:r>
              <a:t>可選：模型設定貼 OpenRouter Key，之後嘅戲會更貼近現場。冇 Key 一樣完整。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收束。</a:t>
            </a:r>
          </a:p>
          <a:p>
            <a:r>
              <a:t>青嵐世家想證明：放置遊戲可以係一場有人、有怨、有遺產嘅戲，而唔係一條升級曲線。</a:t>
            </a:r>
          </a:p>
          <a:p>
            <a:r>
              <a:t>你係天道。少出手。睇住人。</a:t>
            </a:r>
          </a:p>
          <a:p>
            <a:r>
              <a:t>連結再講一次：github.io/family 同 github.com/yip-lgtm/family。</a:t>
            </a:r>
          </a:p>
          <a:p>
            <a:r>
              <a:t>多謝。歡迎而家一齊開。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8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D4AF37"/>
                </a:solidFill>
                <a:latin typeface="Microsoft YaHei"/>
                <a:ea typeface="Microsoft YaHei"/>
              </a:rPr>
              <a:t>青嵐山門 · 修仙世家模擬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5400" b="1">
                <a:solidFill>
                  <a:srgbClr val="D4AF37"/>
                </a:solidFill>
                <a:latin typeface="Microsoft YaHei"/>
                <a:ea typeface="Microsoft YaHei"/>
              </a:rPr>
              <a:t>青嵐世家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0">
                <a:solidFill>
                  <a:srgbClr val="F4E8C8"/>
                </a:solidFill>
                <a:latin typeface="Microsoft YaHei"/>
                <a:ea typeface="Microsoft YaHei"/>
              </a:rPr>
              <a:t>你唔係點擊升級。你係天道。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49039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B8A888"/>
                </a:solidFill>
                <a:latin typeface="Microsoft YaHei"/>
                <a:ea typeface="Microsoft YaHei"/>
              </a:rPr>
              <a:t>約 3 分鐘  ·  含製作 workflow</a:t>
            </a:r>
          </a:p>
          <a:p>
            <a:pPr algn="ctr">
              <a:spcAft>
                <a:spcPts val="600"/>
              </a:spcAft>
            </a:pPr>
            <a:r>
              <a:rPr sz="1800" b="1">
                <a:solidFill>
                  <a:srgbClr val="7EC8C3"/>
                </a:solidFill>
                <a:latin typeface="Microsoft YaHei"/>
                <a:ea typeface="Microsoft YaHei"/>
              </a:rPr>
              <a:t>玩：https://yip-lgtm.github.io/family/</a:t>
            </a:r>
          </a:p>
          <a:p>
            <a:pPr algn="ctr">
              <a:spcAft>
                <a:spcPts val="600"/>
              </a:spcAft>
            </a:pPr>
            <a:r>
              <a:rPr sz="1600" b="0">
                <a:solidFill>
                  <a:srgbClr val="B8A888"/>
                </a:solidFill>
                <a:latin typeface="Microsoft YaHei"/>
                <a:ea typeface="Microsoft YaHei"/>
              </a:rPr>
              <a:t>源碼：https://github.com/yip-lgtm/family.git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8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D4AF37"/>
                </a:solidFill>
                <a:latin typeface="Microsoft YaHei"/>
                <a:ea typeface="Microsoft YaHei"/>
              </a:rPr>
              <a:t>01  ·  唔係點擊遊戲</a:t>
            </a:r>
          </a:p>
          <a:p>
            <a:pPr algn="l">
              <a:spcAft>
                <a:spcPts val="600"/>
              </a:spcAft>
            </a:pPr>
            <a:r>
              <a:rPr sz="3200" b="1">
                <a:solidFill>
                  <a:srgbClr val="F4E8C8"/>
                </a:solidFill>
                <a:latin typeface="Microsoft YaHei"/>
                <a:ea typeface="Microsoft YaHei"/>
              </a:rPr>
              <a:t>玩家角色：天道，唔係農夫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3474720" cy="4023360"/>
          </a:xfrm>
          <a:prstGeom prst="roundRect">
            <a:avLst/>
          </a:prstGeom>
          <a:solidFill>
            <a:srgbClr val="16120C"/>
          </a:solidFill>
          <a:ln w="15875">
            <a:solidFill>
              <a:srgbClr val="B8A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574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B8A888"/>
                </a:solidFill>
                <a:latin typeface="Microsoft YaHei"/>
                <a:ea typeface="Microsoft YaHei"/>
              </a:rPr>
              <a:t>傳統放置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4320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F4E8C8"/>
                </a:solidFill>
                <a:latin typeface="Microsoft YaHei"/>
                <a:ea typeface="Microsoft YaHei"/>
              </a:rPr>
              <a:t>囤靈氣
買升級
睇數字漲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474720" cy="4023360"/>
          </a:xfrm>
          <a:prstGeom prst="roundRect">
            <a:avLst/>
          </a:prstGeom>
          <a:solidFill>
            <a:srgbClr val="16120C"/>
          </a:solidFill>
          <a:ln w="1587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0574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D4AF37"/>
                </a:solidFill>
                <a:latin typeface="Microsoft YaHei"/>
                <a:ea typeface="Microsoft YaHei"/>
              </a:rPr>
              <a:t>青嵐世家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74320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F4E8C8"/>
                </a:solidFill>
                <a:latin typeface="Microsoft YaHei"/>
                <a:ea typeface="Microsoft YaHei"/>
              </a:rPr>
              <a:t>養人
改命
睇戲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59" y="1828800"/>
            <a:ext cx="3474720" cy="4023360"/>
          </a:xfrm>
          <a:prstGeom prst="roundRect">
            <a:avLst/>
          </a:prstGeom>
          <a:solidFill>
            <a:srgbClr val="16120C"/>
          </a:solidFill>
          <a:ln w="15875">
            <a:solidFill>
              <a:srgbClr val="7EC8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59" y="20574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7EC8C3"/>
                </a:solidFill>
                <a:latin typeface="Microsoft YaHei"/>
                <a:ea typeface="Microsoft YaHei"/>
              </a:rPr>
              <a:t>你出手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59" y="274320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F4E8C8"/>
                </a:solidFill>
                <a:latin typeface="Microsoft YaHei"/>
                <a:ea typeface="Microsoft YaHei"/>
              </a:rPr>
              <a:t>賜福 · 天劫
心魔 · 指派
耗的是業力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8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D4AF37"/>
                </a:solidFill>
                <a:latin typeface="Microsoft YaHei"/>
                <a:ea typeface="Microsoft YaHei"/>
              </a:rPr>
              <a:t>02  ·  天道介面</a:t>
            </a:r>
          </a:p>
          <a:p>
            <a:pPr algn="l">
              <a:spcAft>
                <a:spcPts val="600"/>
              </a:spcAft>
            </a:pPr>
            <a:r>
              <a:rPr sz="2800" b="1">
                <a:solidFill>
                  <a:srgbClr val="F4E8C8"/>
                </a:solidFill>
                <a:latin typeface="Microsoft YaHei"/>
                <a:ea typeface="Microsoft YaHei"/>
              </a:rPr>
              <a:t>一屏睇晒山門、人、同你可改嘅命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3657600" cy="2148840"/>
          </a:xfrm>
          <a:prstGeom prst="roundRect">
            <a:avLst/>
          </a:prstGeom>
          <a:solidFill>
            <a:srgbClr val="14100A"/>
          </a:solidFill>
          <a:ln w="1587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D4AF37"/>
                </a:solidFill>
                <a:latin typeface="Microsoft YaHei"/>
                <a:ea typeface="Microsoft YaHei"/>
              </a:rPr>
              <a:t>曆法 HUD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4028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4E8C8"/>
                </a:solidFill>
                <a:latin typeface="Microsoft YaHei"/>
                <a:ea typeface="Microsoft YaHei"/>
              </a:rPr>
              <a:t>玄元曆、靈氣、業力、人口。暫停、一倍、三倍、八倍過月。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554480"/>
            <a:ext cx="3657600" cy="2148840"/>
          </a:xfrm>
          <a:prstGeom prst="roundRect">
            <a:avLst/>
          </a:prstGeom>
          <a:solidFill>
            <a:srgbClr val="14100A"/>
          </a:solidFill>
          <a:ln w="1587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7373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D4AF37"/>
                </a:solidFill>
                <a:latin typeface="Microsoft YaHei"/>
                <a:ea typeface="Microsoft YaHei"/>
              </a:rPr>
              <a:t>山門地圖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24028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4E8C8"/>
                </a:solidFill>
                <a:latin typeface="Microsoft YaHei"/>
                <a:ea typeface="Microsoft YaHei"/>
              </a:rPr>
              <a:t>靈樞、後山、丹房、藏經閣、山門、雲市。人會自己揀去邊。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1554480"/>
            <a:ext cx="3657600" cy="2148840"/>
          </a:xfrm>
          <a:prstGeom prst="roundRect">
            <a:avLst/>
          </a:prstGeom>
          <a:solidFill>
            <a:srgbClr val="14100A"/>
          </a:solidFill>
          <a:ln w="1587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7373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D4AF37"/>
                </a:solidFill>
                <a:latin typeface="Microsoft YaHei"/>
                <a:ea typeface="Microsoft YaHei"/>
              </a:rPr>
              <a:t>人物檢視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24028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4E8C8"/>
                </a:solidFill>
                <a:latin typeface="Microsoft YaHei"/>
                <a:ea typeface="Microsoft YaHei"/>
              </a:rPr>
              <a:t>根骨、心性、功法、丹藥、法寶、心事、記憶、關係。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886200"/>
            <a:ext cx="3657600" cy="2148840"/>
          </a:xfrm>
          <a:prstGeom prst="roundRect">
            <a:avLst/>
          </a:prstGeom>
          <a:solidFill>
            <a:srgbClr val="14100A"/>
          </a:solidFill>
          <a:ln w="1587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0690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D4AF37"/>
                </a:solidFill>
                <a:latin typeface="Microsoft YaHei"/>
                <a:ea typeface="Microsoft YaHei"/>
              </a:rPr>
              <a:t>天道三鍵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57200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4E8C8"/>
                </a:solidFill>
                <a:latin typeface="Microsoft YaHei"/>
                <a:ea typeface="Microsoft YaHei"/>
              </a:rPr>
              <a:t>賜福、天劫、心魔。再加指派。業力唔夠就唔好亂改。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3886200"/>
            <a:ext cx="3657600" cy="2148840"/>
          </a:xfrm>
          <a:prstGeom prst="roundRect">
            <a:avLst/>
          </a:prstGeom>
          <a:solidFill>
            <a:srgbClr val="14100A"/>
          </a:solidFill>
          <a:ln w="1587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40690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D4AF37"/>
                </a:solidFill>
                <a:latin typeface="Microsoft YaHei"/>
                <a:ea typeface="Microsoft YaHei"/>
              </a:rPr>
              <a:t>世家傳承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457200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4E8C8"/>
                </a:solidFill>
                <a:latin typeface="Microsoft YaHei"/>
                <a:ea typeface="Microsoft YaHei"/>
              </a:rPr>
              <a:t>家訓、老祖突破、三選 N 天賦。金丹元嬰有金光。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80" y="3886200"/>
            <a:ext cx="3657600" cy="2148840"/>
          </a:xfrm>
          <a:prstGeom prst="roundRect">
            <a:avLst/>
          </a:prstGeom>
          <a:solidFill>
            <a:srgbClr val="14100A"/>
          </a:solidFill>
          <a:ln w="1587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40690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D4AF37"/>
                </a:solidFill>
                <a:latin typeface="Microsoft YaHei"/>
                <a:ea typeface="Microsoft YaHei"/>
              </a:rPr>
              <a:t>山門誌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457200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4E8C8"/>
                </a:solidFill>
                <a:latin typeface="Microsoft YaHei"/>
                <a:ea typeface="Microsoft YaHei"/>
              </a:rPr>
              <a:t>功法、丹方、法寶、紀年。人死功法可以留下。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8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D4AF37"/>
                </a:solidFill>
                <a:latin typeface="Microsoft YaHei"/>
                <a:ea typeface="Microsoft YaHei"/>
              </a:rPr>
              <a:t>03  ·  活人，唔係數值</a:t>
            </a:r>
          </a:p>
          <a:p>
            <a:pPr algn="l">
              <a:spcAft>
                <a:spcPts val="600"/>
              </a:spcAft>
            </a:pPr>
            <a:r>
              <a:rPr sz="2800" b="1">
                <a:solidFill>
                  <a:srgbClr val="F4E8C8"/>
                </a:solidFill>
                <a:latin typeface="Microsoft YaHei"/>
                <a:ea typeface="Microsoft YaHei"/>
              </a:rPr>
              <a:t>開局六人，各有根骨、心性、心事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80160"/>
            <a:ext cx="3657600" cy="2286000"/>
          </a:xfrm>
          <a:prstGeom prst="roundRect">
            <a:avLst/>
          </a:prstGeom>
          <a:solidFill>
            <a:srgbClr val="14100A"/>
          </a:solidFill>
          <a:ln w="1587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508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D4AF37"/>
                </a:solidFill>
                <a:latin typeface="Microsoft YaHei"/>
                <a:ea typeface="Microsoft YaHei"/>
              </a:rPr>
              <a:t>青玄機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2057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7EC8C3"/>
                </a:solidFill>
                <a:latin typeface="Microsoft YaHei"/>
                <a:ea typeface="Microsoft YaHei"/>
              </a:rPr>
              <a:t>老祖 · 金丹後期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51460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4E8C8"/>
                </a:solidFill>
                <a:latin typeface="Microsoft YaHei"/>
                <a:ea typeface="Microsoft YaHei"/>
              </a:rPr>
              <a:t>鎮山門。你唔可以等佢死。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280160"/>
            <a:ext cx="3657600" cy="2286000"/>
          </a:xfrm>
          <a:prstGeom prst="roundRect">
            <a:avLst/>
          </a:prstGeom>
          <a:solidFill>
            <a:srgbClr val="14100A"/>
          </a:solidFill>
          <a:ln w="1587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508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D4AF37"/>
                </a:solidFill>
                <a:latin typeface="Microsoft YaHei"/>
                <a:ea typeface="Microsoft YaHei"/>
              </a:rPr>
              <a:t>沈清梧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2057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7EC8C3"/>
                </a:solidFill>
                <a:latin typeface="Microsoft YaHei"/>
                <a:ea typeface="Microsoft YaHei"/>
              </a:rPr>
              <a:t>長女 · 金丹初期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51460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4E8C8"/>
                </a:solidFill>
                <a:latin typeface="Microsoft YaHei"/>
                <a:ea typeface="Microsoft YaHei"/>
              </a:rPr>
              <a:t>穩陣、顧家、會頂老祖。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1280160"/>
            <a:ext cx="3657600" cy="2286000"/>
          </a:xfrm>
          <a:prstGeom prst="roundRect">
            <a:avLst/>
          </a:prstGeom>
          <a:solidFill>
            <a:srgbClr val="14100A"/>
          </a:solidFill>
          <a:ln w="1587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5048" y="1508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D4AF37"/>
                </a:solidFill>
                <a:latin typeface="Microsoft YaHei"/>
                <a:ea typeface="Microsoft YaHei"/>
              </a:rPr>
              <a:t>葉疏影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5048" y="2057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7EC8C3"/>
                </a:solidFill>
                <a:latin typeface="Microsoft YaHei"/>
                <a:ea typeface="Microsoft YaHei"/>
              </a:rPr>
              <a:t>二代 · 築基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251460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4E8C8"/>
                </a:solidFill>
                <a:latin typeface="Microsoft YaHei"/>
                <a:ea typeface="Microsoft YaHei"/>
              </a:rPr>
              <a:t>冷、準、同清梧有舊怨。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749039"/>
            <a:ext cx="3657600" cy="2286000"/>
          </a:xfrm>
          <a:prstGeom prst="roundRect">
            <a:avLst/>
          </a:prstGeom>
          <a:solidFill>
            <a:srgbClr val="14100A"/>
          </a:solidFill>
          <a:ln w="1587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397763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D4AF37"/>
                </a:solidFill>
                <a:latin typeface="Microsoft YaHei"/>
                <a:ea typeface="Microsoft YaHei"/>
              </a:rPr>
              <a:t>白無塵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45262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7EC8C3"/>
                </a:solidFill>
                <a:latin typeface="Microsoft YaHei"/>
                <a:ea typeface="Microsoft YaHei"/>
              </a:rPr>
              <a:t>外門 · 築基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4983479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4E8C8"/>
                </a:solidFill>
                <a:latin typeface="Microsoft YaHei"/>
                <a:ea typeface="Microsoft YaHei"/>
              </a:rPr>
              <a:t>散修入贅，身世成謎。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3749039"/>
            <a:ext cx="3657600" cy="2286000"/>
          </a:xfrm>
          <a:prstGeom prst="roundRect">
            <a:avLst/>
          </a:prstGeom>
          <a:solidFill>
            <a:srgbClr val="14100A"/>
          </a:solidFill>
          <a:ln w="1587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44568" y="397763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D4AF37"/>
                </a:solidFill>
                <a:latin typeface="Microsoft YaHei"/>
                <a:ea typeface="Microsoft YaHei"/>
              </a:rPr>
              <a:t>蒼小魚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4568" y="45262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7EC8C3"/>
                </a:solidFill>
                <a:latin typeface="Microsoft YaHei"/>
                <a:ea typeface="Microsoft YaHei"/>
              </a:rPr>
              <a:t>雜役 · 煉氣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4568" y="4983479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4E8C8"/>
                </a:solidFill>
                <a:latin typeface="Microsoft YaHei"/>
                <a:ea typeface="Microsoft YaHei"/>
              </a:rPr>
              <a:t>貪生、識時務、會偷雞。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80" y="3749039"/>
            <a:ext cx="3657600" cy="2286000"/>
          </a:xfrm>
          <a:prstGeom prst="roundRect">
            <a:avLst/>
          </a:prstGeom>
          <a:solidFill>
            <a:srgbClr val="14100A"/>
          </a:solidFill>
          <a:ln w="1587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85048" y="397763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D4AF37"/>
                </a:solidFill>
                <a:latin typeface="Microsoft YaHei"/>
                <a:ea typeface="Microsoft YaHei"/>
              </a:rPr>
              <a:t>嵐七七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5048" y="45262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7EC8C3"/>
                </a:solidFill>
                <a:latin typeface="Microsoft YaHei"/>
                <a:ea typeface="Microsoft YaHei"/>
              </a:rPr>
              <a:t>記名 · 煉氣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5048" y="4983479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4E8C8"/>
                </a:solidFill>
                <a:latin typeface="Microsoft YaHei"/>
                <a:ea typeface="Microsoft YaHei"/>
              </a:rPr>
              <a:t>細、靈、成日問不該問嘅。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8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D4AF37"/>
                </a:solidFill>
                <a:latin typeface="Microsoft YaHei"/>
                <a:ea typeface="Microsoft YaHei"/>
              </a:rPr>
              <a:t>04  ·  編劇組 + OpenRouter</a:t>
            </a:r>
          </a:p>
          <a:p>
            <a:pPr algn="l">
              <a:spcAft>
                <a:spcPts val="600"/>
              </a:spcAft>
            </a:pPr>
            <a:r>
              <a:rPr sz="2800" b="1">
                <a:solidFill>
                  <a:srgbClr val="F4E8C8"/>
                </a:solidFill>
                <a:latin typeface="Microsoft YaHei"/>
                <a:ea typeface="Microsoft YaHei"/>
              </a:rPr>
              <a:t>《教父》三部曲節奏，唔抄對白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80160"/>
            <a:ext cx="3657600" cy="2331720"/>
          </a:xfrm>
          <a:prstGeom prst="roundRect">
            <a:avLst/>
          </a:prstGeom>
          <a:solidFill>
            <a:srgbClr val="14100A"/>
          </a:solidFill>
          <a:ln w="1587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B8A888"/>
                </a:solidFill>
                <a:latin typeface="Microsoft YaHei"/>
                <a:ea typeface="Microsoft YaHei"/>
              </a:rPr>
              <a:t>第一幕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D4AF37"/>
                </a:solidFill>
                <a:latin typeface="Microsoft YaHei"/>
                <a:ea typeface="Microsoft YaHei"/>
              </a:rPr>
              <a:t>血色開端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3172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4E8C8"/>
                </a:solidFill>
                <a:latin typeface="Microsoft YaHei"/>
                <a:ea typeface="Microsoft YaHei"/>
              </a:rPr>
              <a:t>權力真空、聯姻、暗湧。家要先立住。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280160"/>
            <a:ext cx="3657600" cy="2331720"/>
          </a:xfrm>
          <a:prstGeom prst="roundRect">
            <a:avLst/>
          </a:prstGeom>
          <a:solidFill>
            <a:srgbClr val="14100A"/>
          </a:solidFill>
          <a:ln w="1587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4173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B8A888"/>
                </a:solidFill>
                <a:latin typeface="Microsoft YaHei"/>
                <a:ea typeface="Microsoft YaHei"/>
              </a:rPr>
              <a:t>第二幕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7830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D4AF37"/>
                </a:solidFill>
                <a:latin typeface="Microsoft YaHei"/>
                <a:ea typeface="Microsoft YaHei"/>
              </a:rPr>
              <a:t>雙生歲月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33172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4E8C8"/>
                </a:solidFill>
                <a:latin typeface="Microsoft YaHei"/>
                <a:ea typeface="Microsoft YaHei"/>
              </a:rPr>
              <a:t>繼承、背叛、事業擴張。人開始唔同路。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1280160"/>
            <a:ext cx="3657600" cy="2331720"/>
          </a:xfrm>
          <a:prstGeom prst="roundRect">
            <a:avLst/>
          </a:prstGeom>
          <a:solidFill>
            <a:srgbClr val="14100A"/>
          </a:solidFill>
          <a:ln w="1587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4173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B8A888"/>
                </a:solidFill>
                <a:latin typeface="Microsoft YaHei"/>
                <a:ea typeface="Microsoft YaHei"/>
              </a:rPr>
              <a:t>第三幕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17830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D4AF37"/>
                </a:solidFill>
                <a:latin typeface="Microsoft YaHei"/>
                <a:ea typeface="Microsoft YaHei"/>
              </a:rPr>
              <a:t>最後輓歌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33172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4E8C8"/>
                </a:solidFill>
                <a:latin typeface="Microsoft YaHei"/>
                <a:ea typeface="Microsoft YaHei"/>
              </a:rPr>
              <a:t>贖罪、遺產、落幕。唔一定團圓。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794760"/>
            <a:ext cx="11155680" cy="2468880"/>
          </a:xfrm>
          <a:prstGeom prst="roundRect">
            <a:avLst/>
          </a:prstGeom>
          <a:solidFill>
            <a:srgbClr val="14100A"/>
          </a:solidFill>
          <a:ln w="15875">
            <a:solidFill>
              <a:srgbClr val="7EC8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977639"/>
            <a:ext cx="106984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7EC8C3"/>
                </a:solidFill>
                <a:latin typeface="Microsoft YaHei"/>
                <a:ea typeface="Microsoft YaHei"/>
              </a:rPr>
              <a:t>現場：每兩個月自動一場戲 · 可按「下一場」催更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4E8C8"/>
                </a:solidFill>
                <a:latin typeface="Microsoft YaHei"/>
                <a:ea typeface="Microsoft YaHei"/>
              </a:rPr>
              <a:t>有 Key：OpenRouter 用你揀嘅免費模型寫場面、對白、長線。Key 只喺你部瀏覽器。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4E8C8"/>
                </a:solidFill>
                <a:latin typeface="Microsoft YaHei"/>
                <a:ea typeface="Microsoft YaHei"/>
              </a:rPr>
              <a:t>冇 Key / 失敗：劇組代班——仍然係完整劇本，唔會停機。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4E8C8"/>
                </a:solidFill>
                <a:latin typeface="Microsoft YaHei"/>
                <a:ea typeface="Microsoft YaHei"/>
              </a:rPr>
              <a:t>戲會寫入心事同關係，再影響下個月邊個去邊、同邊個結怨。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8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D4AF37"/>
                </a:solidFill>
                <a:latin typeface="Microsoft YaHei"/>
                <a:ea typeface="Microsoft YaHei"/>
              </a:rPr>
              <a:t>05  ·  金漆山門，現場聲畫</a:t>
            </a:r>
          </a:p>
          <a:p>
            <a:pPr algn="l">
              <a:spcAft>
                <a:spcPts val="600"/>
              </a:spcAft>
            </a:pPr>
            <a:r>
              <a:rPr sz="2600" b="1">
                <a:solidFill>
                  <a:srgbClr val="F4E8C8"/>
                </a:solidFill>
                <a:latin typeface="Microsoft YaHei"/>
                <a:ea typeface="Microsoft YaHei"/>
              </a:rPr>
              <a:t>零外鏈圖 · Web Audio · 嗶哩官方嵌入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80160"/>
            <a:ext cx="5577840" cy="2286000"/>
          </a:xfrm>
          <a:prstGeom prst="roundRect">
            <a:avLst/>
          </a:prstGeom>
          <a:solidFill>
            <a:srgbClr val="14100A"/>
          </a:solidFill>
          <a:ln w="1587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D4AF37"/>
                </a:solidFill>
                <a:latin typeface="Microsoft YaHei"/>
                <a:ea typeface="Microsoft YaHei"/>
              </a:rPr>
              <a:t>視覺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4E8C8"/>
                </a:solidFill>
                <a:latin typeface="Microsoft YaHei"/>
                <a:ea typeface="Microsoft YaHei"/>
              </a:rPr>
              <a:t>CSS 金漆牌坊、墨底描金。Canvas 靈塵。突破金光。無外部圖片。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59" y="1280160"/>
            <a:ext cx="5577840" cy="2286000"/>
          </a:xfrm>
          <a:prstGeom prst="roundRect">
            <a:avLst/>
          </a:prstGeom>
          <a:solidFill>
            <a:srgbClr val="14100A"/>
          </a:solidFill>
          <a:ln w="1587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79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D4AF37"/>
                </a:solidFill>
                <a:latin typeface="Microsoft YaHei"/>
                <a:ea typeface="Microsoft YaHei"/>
              </a:rPr>
              <a:t>音效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79" y="219456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4E8C8"/>
                </a:solidFill>
                <a:latin typeface="Microsoft YaHei"/>
                <a:ea typeface="Microsoft YaHei"/>
              </a:rPr>
              <a:t>瀏覽器合成木魚、磬、雷、心魔。一鍵靜音。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749039"/>
            <a:ext cx="5577840" cy="2286000"/>
          </a:xfrm>
          <a:prstGeom prst="roundRect">
            <a:avLst/>
          </a:prstGeom>
          <a:solidFill>
            <a:srgbClr val="14100A"/>
          </a:solidFill>
          <a:ln w="1587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02335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D4AF37"/>
                </a:solidFill>
                <a:latin typeface="Microsoft YaHei"/>
                <a:ea typeface="Microsoft YaHei"/>
              </a:rPr>
              <a:t>BGM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663439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4E8C8"/>
                </a:solidFill>
                <a:latin typeface="Microsoft YaHei"/>
                <a:ea typeface="Microsoft YaHei"/>
              </a:rPr>
              <a:t>嗶哩嗶哩官方嵌入《中國風純音樂》。可縮小成一條，唔擋操作。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3749039"/>
            <a:ext cx="5577840" cy="2286000"/>
          </a:xfrm>
          <a:prstGeom prst="roundRect">
            <a:avLst/>
          </a:prstGeom>
          <a:solidFill>
            <a:srgbClr val="14100A"/>
          </a:solidFill>
          <a:ln w="1587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79" y="402335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D4AF37"/>
                </a:solidFill>
                <a:latin typeface="Microsoft YaHei"/>
                <a:ea typeface="Microsoft YaHei"/>
              </a:rPr>
              <a:t>技術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79" y="4663439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4E8C8"/>
                </a:solidFill>
                <a:latin typeface="Microsoft YaHei"/>
                <a:ea typeface="Microsoft YaHei"/>
              </a:rPr>
              <a:t>Vite + 原生 JS。規則模擬同編劇分檔。GitHub Pages 可直接開。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8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D4AF37"/>
                </a:solidFill>
                <a:latin typeface="Microsoft YaHei"/>
                <a:ea typeface="Microsoft YaHei"/>
              </a:rPr>
              <a:t>06  ·  遊戲製作 workflow</a:t>
            </a:r>
          </a:p>
          <a:p>
            <a:pPr algn="l">
              <a:spcAft>
                <a:spcPts val="600"/>
              </a:spcAft>
            </a:pPr>
            <a:r>
              <a:rPr sz="2600" b="1">
                <a:solidFill>
                  <a:srgbClr val="F4E8C8"/>
                </a:solidFill>
                <a:latin typeface="Microsoft YaHei"/>
                <a:ea typeface="Microsoft YaHei"/>
              </a:rPr>
              <a:t>先立天道，再寫規則，最後先上金漆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3657600" cy="2377440"/>
          </a:xfrm>
          <a:prstGeom prst="roundRect">
            <a:avLst/>
          </a:prstGeom>
          <a:solidFill>
            <a:srgbClr val="14100A"/>
          </a:solidFill>
          <a:ln w="1587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9903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D4AF37"/>
                </a:solidFill>
                <a:latin typeface="Microsoft YaHei"/>
                <a:ea typeface="Microsoft YaHei"/>
              </a:rPr>
              <a:t>1  ·  立意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2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4E8C8"/>
                </a:solidFill>
                <a:latin typeface="Microsoft YaHei"/>
                <a:ea typeface="Microsoft YaHei"/>
              </a:rPr>
              <a:t>玩家係天道。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4E8C8"/>
                </a:solidFill>
                <a:latin typeface="Microsoft YaHei"/>
                <a:ea typeface="Microsoft YaHei"/>
              </a:rPr>
              <a:t>養人、改命、睇戲。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4E8C8"/>
                </a:solidFill>
                <a:latin typeface="Microsoft YaHei"/>
                <a:ea typeface="Microsoft YaHei"/>
              </a:rPr>
              <a:t>唔做點擊農夫。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234440"/>
            <a:ext cx="3657600" cy="2377440"/>
          </a:xfrm>
          <a:prstGeom prst="roundRect">
            <a:avLst/>
          </a:prstGeom>
          <a:solidFill>
            <a:srgbClr val="14100A"/>
          </a:solidFill>
          <a:ln w="1587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39903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D4AF37"/>
                </a:solidFill>
                <a:latin typeface="Microsoft YaHei"/>
                <a:ea typeface="Microsoft YaHei"/>
              </a:rPr>
              <a:t>2  ·  規則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87452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4E8C8"/>
                </a:solidFill>
                <a:latin typeface="Microsoft YaHei"/>
                <a:ea typeface="Microsoft YaHei"/>
              </a:rPr>
              <a:t>world.js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4E8C8"/>
                </a:solidFill>
                <a:latin typeface="Microsoft YaHei"/>
                <a:ea typeface="Microsoft YaHei"/>
              </a:rPr>
              <a:t>月結、根骨、壽元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4E8C8"/>
                </a:solidFill>
                <a:latin typeface="Microsoft YaHei"/>
                <a:ea typeface="Microsoft YaHei"/>
              </a:rPr>
              <a:t>業力、死亡、傳承。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234440"/>
            <a:ext cx="3657600" cy="2377440"/>
          </a:xfrm>
          <a:prstGeom prst="roundRect">
            <a:avLst/>
          </a:prstGeom>
          <a:solidFill>
            <a:srgbClr val="14100A"/>
          </a:solidFill>
          <a:ln w="1587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39903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D4AF37"/>
                </a:solidFill>
                <a:latin typeface="Microsoft YaHei"/>
                <a:ea typeface="Microsoft YaHei"/>
              </a:rPr>
              <a:t>3  ·  編劇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187452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4E8C8"/>
                </a:solidFill>
                <a:latin typeface="Microsoft YaHei"/>
                <a:ea typeface="Microsoft YaHei"/>
              </a:rPr>
              <a:t>screenplay.js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4E8C8"/>
                </a:solidFill>
                <a:latin typeface="Microsoft YaHei"/>
                <a:ea typeface="Microsoft YaHei"/>
              </a:rPr>
              <a:t>三幕節奏 + 劇組代班。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4E8C8"/>
                </a:solidFill>
                <a:latin typeface="Microsoft YaHei"/>
                <a:ea typeface="Microsoft YaHei"/>
              </a:rPr>
              <a:t>戲寫入心事同關係。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794760"/>
            <a:ext cx="3657600" cy="2377440"/>
          </a:xfrm>
          <a:prstGeom prst="roundRect">
            <a:avLst/>
          </a:prstGeom>
          <a:solidFill>
            <a:srgbClr val="14100A"/>
          </a:solidFill>
          <a:ln w="1587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95935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D4AF37"/>
                </a:solidFill>
                <a:latin typeface="Microsoft YaHei"/>
                <a:ea typeface="Microsoft YaHei"/>
              </a:rPr>
              <a:t>4  ·  皮與聲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43484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4E8C8"/>
                </a:solidFill>
                <a:latin typeface="Microsoft YaHei"/>
                <a:ea typeface="Microsoft YaHei"/>
              </a:rPr>
              <a:t>CSS 金漆、Canvas 靈塵、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4E8C8"/>
                </a:solidFill>
                <a:latin typeface="Microsoft YaHei"/>
                <a:ea typeface="Microsoft YaHei"/>
              </a:rPr>
              <a:t>Web Audio、嗶哩嵌入。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4E8C8"/>
                </a:solidFill>
                <a:latin typeface="Microsoft YaHei"/>
                <a:ea typeface="Microsoft YaHei"/>
              </a:rPr>
              <a:t>零外鏈圖。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3794760"/>
            <a:ext cx="3657600" cy="2377440"/>
          </a:xfrm>
          <a:prstGeom prst="roundRect">
            <a:avLst/>
          </a:prstGeom>
          <a:solidFill>
            <a:srgbClr val="14100A"/>
          </a:solidFill>
          <a:ln w="1587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395935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D4AF37"/>
                </a:solidFill>
                <a:latin typeface="Microsoft YaHei"/>
                <a:ea typeface="Microsoft YaHei"/>
              </a:rPr>
              <a:t>5  ·  試玩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443484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4E8C8"/>
                </a:solidFill>
                <a:latin typeface="Microsoft YaHei"/>
                <a:ea typeface="Microsoft YaHei"/>
              </a:rPr>
              <a:t>Vite 開 /family/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4E8C8"/>
                </a:solidFill>
                <a:latin typeface="Microsoft YaHei"/>
                <a:ea typeface="Microsoft YaHei"/>
              </a:rPr>
              <a:t>改完即睇。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4E8C8"/>
                </a:solidFill>
                <a:latin typeface="Microsoft YaHei"/>
                <a:ea typeface="Microsoft YaHei"/>
              </a:rPr>
              <a:t>細畫面、BGM、文案。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3794760"/>
            <a:ext cx="3657600" cy="2377440"/>
          </a:xfrm>
          <a:prstGeom prst="roundRect">
            <a:avLst/>
          </a:prstGeom>
          <a:solidFill>
            <a:srgbClr val="14100A"/>
          </a:solidFill>
          <a:ln w="1587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395935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D4AF37"/>
                </a:solidFill>
                <a:latin typeface="Microsoft YaHei"/>
                <a:ea typeface="Microsoft YaHei"/>
              </a:rPr>
              <a:t>6  ·  出貨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43484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4E8C8"/>
                </a:solidFill>
                <a:latin typeface="Microsoft YaHei"/>
                <a:ea typeface="Microsoft YaHei"/>
              </a:rPr>
              <a:t>npm run build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4E8C8"/>
                </a:solidFill>
                <a:latin typeface="Microsoft YaHei"/>
                <a:ea typeface="Microsoft YaHei"/>
              </a:rPr>
              <a:t>推 gh-pages。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4E8C8"/>
                </a:solidFill>
                <a:latin typeface="Microsoft YaHei"/>
                <a:ea typeface="Microsoft YaHei"/>
              </a:rPr>
              <a:t>github.io/family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8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D4AF37"/>
                </a:solidFill>
                <a:latin typeface="Microsoft YaHei"/>
                <a:ea typeface="Microsoft YaHei"/>
              </a:rPr>
              <a:t>07  ·  工程回路</a:t>
            </a:r>
          </a:p>
          <a:p>
            <a:pPr algn="l">
              <a:spcAft>
                <a:spcPts val="600"/>
              </a:spcAft>
            </a:pPr>
            <a:r>
              <a:rPr sz="2600" b="1">
                <a:solidFill>
                  <a:srgbClr val="F4E8C8"/>
                </a:solidFill>
                <a:latin typeface="Microsoft YaHei"/>
                <a:ea typeface="Microsoft YaHei"/>
              </a:rPr>
              <a:t>六個檔，一條每日回路：改 → 睇 → 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70432"/>
            <a:ext cx="3657600" cy="1389888"/>
          </a:xfrm>
          <a:prstGeom prst="roundRect">
            <a:avLst/>
          </a:prstGeom>
          <a:solidFill>
            <a:srgbClr val="14100A"/>
          </a:solidFill>
          <a:ln w="1587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35024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7EC8C3"/>
                </a:solidFill>
                <a:latin typeface="Microsoft YaHei"/>
                <a:ea typeface="Microsoft YaHei"/>
              </a:rPr>
              <a:t>world.js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92224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4E8C8"/>
                </a:solidFill>
                <a:latin typeface="Microsoft YaHei"/>
                <a:ea typeface="Microsoft YaHei"/>
              </a:rPr>
              <a:t>月結、人物、天道三鍵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170432"/>
            <a:ext cx="3657600" cy="1389888"/>
          </a:xfrm>
          <a:prstGeom prst="roundRect">
            <a:avLst/>
          </a:prstGeom>
          <a:solidFill>
            <a:srgbClr val="14100A"/>
          </a:solidFill>
          <a:ln w="1587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335024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7EC8C3"/>
                </a:solidFill>
                <a:latin typeface="Microsoft YaHei"/>
                <a:ea typeface="Microsoft YaHei"/>
              </a:rPr>
              <a:t>screenplay.js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792224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4E8C8"/>
                </a:solidFill>
                <a:latin typeface="Microsoft YaHei"/>
                <a:ea typeface="Microsoft YaHei"/>
              </a:rPr>
              <a:t>導演、三幕、OpenRouter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170432"/>
            <a:ext cx="3657600" cy="1389888"/>
          </a:xfrm>
          <a:prstGeom prst="roundRect">
            <a:avLst/>
          </a:prstGeom>
          <a:solidFill>
            <a:srgbClr val="14100A"/>
          </a:solidFill>
          <a:ln w="1587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335024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7EC8C3"/>
                </a:solidFill>
                <a:latin typeface="Microsoft YaHei"/>
                <a:ea typeface="Microsoft YaHei"/>
              </a:rPr>
              <a:t>main.js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1792224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4E8C8"/>
                </a:solidFill>
                <a:latin typeface="Microsoft YaHei"/>
                <a:ea typeface="Microsoft YaHei"/>
              </a:rPr>
              <a:t>HUD、地圖、檢視、操作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724912"/>
            <a:ext cx="3657600" cy="1389888"/>
          </a:xfrm>
          <a:prstGeom prst="roundRect">
            <a:avLst/>
          </a:prstGeom>
          <a:solidFill>
            <a:srgbClr val="14100A"/>
          </a:solidFill>
          <a:ln w="1587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889504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7EC8C3"/>
                </a:solidFill>
                <a:latin typeface="Microsoft YaHei"/>
                <a:ea typeface="Microsoft YaHei"/>
              </a:rPr>
              <a:t>style.css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346704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4E8C8"/>
                </a:solidFill>
                <a:latin typeface="Microsoft YaHei"/>
                <a:ea typeface="Microsoft YaHei"/>
              </a:rPr>
              <a:t>金漆牌坊、墨底描金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2724912"/>
            <a:ext cx="3657600" cy="1389888"/>
          </a:xfrm>
          <a:prstGeom prst="roundRect">
            <a:avLst/>
          </a:prstGeom>
          <a:solidFill>
            <a:srgbClr val="14100A"/>
          </a:solidFill>
          <a:ln w="1587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2889504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7EC8C3"/>
                </a:solidFill>
                <a:latin typeface="Microsoft YaHei"/>
                <a:ea typeface="Microsoft YaHei"/>
              </a:rPr>
              <a:t>fx.js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346704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4E8C8"/>
                </a:solidFill>
                <a:latin typeface="Microsoft YaHei"/>
                <a:ea typeface="Microsoft YaHei"/>
              </a:rPr>
              <a:t>靈塵、聚氣、突破金光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2724912"/>
            <a:ext cx="3657600" cy="1389888"/>
          </a:xfrm>
          <a:prstGeom prst="roundRect">
            <a:avLst/>
          </a:prstGeom>
          <a:solidFill>
            <a:srgbClr val="14100A"/>
          </a:solidFill>
          <a:ln w="1587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2889504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7EC8C3"/>
                </a:solidFill>
                <a:latin typeface="Microsoft YaHei"/>
                <a:ea typeface="Microsoft YaHei"/>
              </a:rPr>
              <a:t>audio.js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346704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4E8C8"/>
                </a:solidFill>
                <a:latin typeface="Microsoft YaHei"/>
                <a:ea typeface="Microsoft YaHei"/>
              </a:rPr>
              <a:t>木魚磬雷 + 嗶哩嵌入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389120"/>
            <a:ext cx="11247120" cy="1965960"/>
          </a:xfrm>
          <a:prstGeom prst="roundRect">
            <a:avLst/>
          </a:prstGeom>
          <a:solidFill>
            <a:srgbClr val="14100A"/>
          </a:solidFill>
          <a:ln w="15875">
            <a:solidFill>
              <a:srgbClr val="7EC8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526280"/>
            <a:ext cx="107899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7EC8C3"/>
                </a:solidFill>
                <a:latin typeface="Microsoft YaHei"/>
                <a:ea typeface="Microsoft YaHei"/>
              </a:rPr>
              <a:t>日常　改規則或文案 → npm run dev → 現場睇一場戲 → git commit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4E8C8"/>
                </a:solidFill>
                <a:latin typeface="Microsoft YaHei"/>
                <a:ea typeface="Microsoft YaHei"/>
              </a:rPr>
              <a:t>出貨　npm run build → 將 dist 推去 gh-pages → https://yip-lgtm.github.io/family/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B8A888"/>
                </a:solidFill>
                <a:latin typeface="Microsoft YaHei"/>
                <a:ea typeface="Microsoft YaHei"/>
              </a:rPr>
              <a:t>約束　唔下載嗶哩音源 · 唔抄《教父》對白 · Key 只存瀏覽器 · 劇組永遠可代班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8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D4AF37"/>
                </a:solidFill>
                <a:latin typeface="Microsoft YaHei"/>
                <a:ea typeface="Microsoft YaHei"/>
              </a:rPr>
              <a:t>08  ·  而家點玩（三分鐘）</a:t>
            </a:r>
          </a:p>
          <a:p>
            <a:pPr algn="l">
              <a:spcAft>
                <a:spcPts val="600"/>
              </a:spcAft>
            </a:pPr>
            <a:r>
              <a:rPr sz="2800" b="1">
                <a:solidFill>
                  <a:srgbClr val="F4E8C8"/>
                </a:solidFill>
                <a:latin typeface="Microsoft YaHei"/>
                <a:ea typeface="Microsoft YaHei"/>
              </a:rPr>
              <a:t>四步入局，唔使註冊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2743200" cy="4297680"/>
          </a:xfrm>
          <a:prstGeom prst="roundRect">
            <a:avLst/>
          </a:prstGeom>
          <a:solidFill>
            <a:srgbClr val="14100A"/>
          </a:solidFill>
          <a:ln w="1587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>
                <a:solidFill>
                  <a:srgbClr val="D4AF37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4E8C8"/>
                </a:solidFill>
                <a:latin typeface="Microsoft YaHei"/>
                <a:ea typeface="Microsoft YaHei"/>
              </a:rPr>
              <a:t>打開連結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063240"/>
            <a:ext cx="2468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B8A888"/>
                </a:solidFill>
                <a:latin typeface="Microsoft YaHei"/>
                <a:ea typeface="Microsoft YaHei"/>
              </a:rPr>
              <a:t>yip-lgtm.github.io/family
撳「承天命」。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325880"/>
            <a:ext cx="2743200" cy="4297680"/>
          </a:xfrm>
          <a:prstGeom prst="roundRect">
            <a:avLst/>
          </a:prstGeom>
          <a:solidFill>
            <a:srgbClr val="14100A"/>
          </a:solidFill>
          <a:ln w="1587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5544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>
                <a:solidFill>
                  <a:srgbClr val="D4AF37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2860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4E8C8"/>
                </a:solidFill>
                <a:latin typeface="Microsoft YaHei"/>
                <a:ea typeface="Microsoft YaHei"/>
              </a:rPr>
              <a:t>睇一個人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3063240"/>
            <a:ext cx="2468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B8A888"/>
                </a:solidFill>
                <a:latin typeface="Microsoft YaHei"/>
                <a:ea typeface="Microsoft YaHei"/>
              </a:rPr>
              <a:t>點沈清梧或者葉疏影。
記住佢心事同關係。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325880"/>
            <a:ext cx="2743200" cy="4297680"/>
          </a:xfrm>
          <a:prstGeom prst="roundRect">
            <a:avLst/>
          </a:prstGeom>
          <a:solidFill>
            <a:srgbClr val="14100A"/>
          </a:solidFill>
          <a:ln w="1587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5544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>
                <a:solidFill>
                  <a:srgbClr val="D4AF37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2860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4E8C8"/>
                </a:solidFill>
                <a:latin typeface="Microsoft YaHei"/>
                <a:ea typeface="Microsoft YaHei"/>
              </a:rPr>
              <a:t>等兩場戲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063240"/>
            <a:ext cx="2468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B8A888"/>
                </a:solidFill>
                <a:latin typeface="Microsoft YaHei"/>
                <a:ea typeface="Microsoft YaHei"/>
              </a:rPr>
              <a:t>開時間。睇編劇組出第一、第二場。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1325880"/>
            <a:ext cx="2743200" cy="4297680"/>
          </a:xfrm>
          <a:prstGeom prst="roundRect">
            <a:avLst/>
          </a:prstGeom>
          <a:solidFill>
            <a:srgbClr val="14100A"/>
          </a:solidFill>
          <a:ln w="1587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0" y="15544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>
                <a:solidFill>
                  <a:srgbClr val="D4AF37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2860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4E8C8"/>
                </a:solidFill>
                <a:latin typeface="Microsoft YaHei"/>
                <a:ea typeface="Microsoft YaHei"/>
              </a:rPr>
              <a:t>先改一次命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3063240"/>
            <a:ext cx="2468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B8A888"/>
                </a:solidFill>
                <a:latin typeface="Microsoft YaHei"/>
                <a:ea typeface="Microsoft YaHei"/>
              </a:rPr>
              <a:t>賜福或者天劫。
然後停手，睇後果。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8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D4AF37"/>
                </a:solidFill>
                <a:latin typeface="Microsoft YaHei"/>
                <a:ea typeface="Microsoft YaHei"/>
              </a:rPr>
              <a:t>結  ·  家訓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F37"/>
                </a:solidFill>
                <a:latin typeface="Microsoft YaHei"/>
                <a:ea typeface="Microsoft YaHei"/>
              </a:rPr>
              <a:t>人死功法在。家在，戲就未完。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7EC8C3"/>
                </a:solidFill>
                <a:latin typeface="Microsoft YaHei"/>
                <a:ea typeface="Microsoft YaHei"/>
              </a:rPr>
              <a:t>玩　　https://yip-lgtm.github.io/family/</a:t>
            </a:r>
          </a:p>
          <a:p>
            <a:pPr algn="ctr">
              <a:spcAft>
                <a:spcPts val="600"/>
              </a:spcAft>
            </a:pPr>
            <a:r>
              <a:rPr sz="1800" b="0">
                <a:solidFill>
                  <a:srgbClr val="B8A888"/>
                </a:solidFill>
                <a:latin typeface="Microsoft YaHei"/>
                <a:ea typeface="Microsoft YaHei"/>
              </a:rPr>
              <a:t>源碼　https://github.com/yip-lgtm/family.git</a:t>
            </a:r>
          </a:p>
          <a:p>
            <a:pPr algn="ctr">
              <a:spcAft>
                <a:spcPts val="600"/>
              </a:spcAft>
            </a:pPr>
            <a:r>
              <a:rPr sz="1600" b="0">
                <a:solidFill>
                  <a:srgbClr val="B8A888"/>
                </a:solidFill>
                <a:latin typeface="Microsoft YaHei"/>
                <a:ea typeface="Microsoft YaHei"/>
              </a:rPr>
              <a:t>鏡像　https://github.com/yip-lgtm/qi-lineage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B8A888"/>
                </a:solidFill>
                <a:latin typeface="Microsoft YaHei"/>
                <a:ea typeface="Microsoft YaHei"/>
              </a:rPr>
              <a:t>開源 · 瀏覽器即玩 · Key 可選 · 劇組永遠代班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