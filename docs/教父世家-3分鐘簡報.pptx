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大家好。呢個係教父世家。品牌印係「父」，英文 THE FAMILY。地圖標題：教父山門，GODFATHER GATE。</a:t>
            </a:r>
          </a:p>
          <a:p>
            <a:r>
              <a:t>你唔係點擊農夫。你入去係一間修仙世家，你係天道：睇住人，間中伸手改命。</a:t>
            </a:r>
          </a:p>
          <a:p>
            <a:r>
              <a:t>而家就可以玩：yip-lgtm.github.io/family。今日三分鐘：做咩、畫面點樣永遠有人、點做出嚟。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傳統放置：你係農夫，囤靈氣、買升級、睇數字。</a:t>
            </a:r>
          </a:p>
          <a:p>
            <a:r>
              <a:t>教父世家唔係。靈樞可以聚氣，但真正玩法係一班有根骨、心性、關係網嘅人。</a:t>
            </a:r>
          </a:p>
          <a:p>
            <a:r>
              <a:t>你用氣運賜福、天劫、心魔、指派。氣運唔夠就唔好亂改。少出手，山門自己過月。你出手，就係改命。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介面係天道工作台。上面曆法、氣運、人口。時間可停，可一倍、三倍、八倍。</a:t>
            </a:r>
          </a:p>
          <a:p>
            <a:r>
              <a:t>中間地圖標題：教父山門，GODFATHER GATE。人會自己去後山、丹房、藏經閣、雲市。</a:t>
            </a:r>
          </a:p>
          <a:p>
            <a:r>
              <a:t>天道四鍵好貴：賜福八、天劫十二、心魔十、指派三。開場畫像即見。老祖唔會死。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開局六人，性格寫死，畫像已捆進遊戲，一開就見。</a:t>
            </a:r>
          </a:p>
          <a:p>
            <a:r>
              <a:t>青玄機鎮山門，修《青嵐吐納訣》。沈清梧穩、顧家。葉疏影冷、同清梧有舊怨。白無塵外來。蒼小魚識時務。嵐七七成日問不該問嘅。</a:t>
            </a:r>
          </a:p>
          <a:p>
            <a:r>
              <a:t>人會死。死咗，功法可以留低。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編劇組結構致敬《教父》三部曲：血色開端、雙生歲月、最後輓歌。致敬節奏，唔抄對白、唔抄人名。</a:t>
            </a:r>
          </a:p>
          <a:p>
            <a:r>
              <a:t>每兩個月自動一場戲。文字預設 openrouter/free，Key 只存瀏覽器。有 Key，編劇背景無限連載，冷卻更短。</a:t>
            </a:r>
          </a:p>
          <a:p>
            <a:r>
              <a:t>冇 Key：劇組代班，戲照拍，寫入心事同關係。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畫面最怕空白「插畫未成」。所以六人開場畫像同場次演示畫，全部捆進遊戲。</a:t>
            </a:r>
          </a:p>
          <a:p>
            <a:r>
              <a:t>有 Key：編劇同畫師喺背景無限開工。畫師預設 google/gemini-2.5-flash-image，512 檔細圖，失敗靜默重試。</a:t>
            </a:r>
          </a:p>
          <a:p>
            <a:r>
              <a:t>演示畫留住，LLM 畫好先換。模型設定可以關自動出圖。冇 Key 或者失敗：演示畫唔走。你永遠唔會睇住一個空框。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牌坊係 CSS 描金，印係「父」。演示畫打進倉庫，唔靠外鏈圖床。音效 Web Audio 合成木魚磬雷。</a:t>
            </a:r>
          </a:p>
          <a:p>
            <a:r>
              <a:t>BGM 係嗶哩官方嵌入，唔下載、唔轉檔、唔盜鏈音源。技術棧：Vite 加原生 JS。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製作唔係先畫皮。六步：立意，玩家係天道。規則 world.js。編劇 screenplay.js，三幕加劇組代班；有 Key 就背景無限連載。</a:t>
            </a:r>
          </a:p>
          <a:p>
            <a:r>
              <a:t>皮與聲：先捆六人同場次演示畫，再接 LLM 背景出圖。試玩 Vite 開 /family/。出貨 build 推 gh-pages，就係而家呢個站。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核心六個檔。world 規則，screenplay 戲，main 介面，style fx audio 現場。</a:t>
            </a:r>
          </a:p>
          <a:p>
            <a:r>
              <a:t>畫面掛兩件：demoArt 捆演示畫，illustrate 背景出 512 檔圖，失敗靜默重試。</a:t>
            </a:r>
          </a:p>
          <a:p>
            <a:r>
              <a:t>紅線：唔偷嗶哩音、唔抄教父對白、Key 唔上伺服器。演示畫永遠兜底。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四步，唔使註冊。打開 yip-lgtm.github.io/family，撳承天命。點沈清梧或者葉疏影——畫像即見。</a:t>
            </a:r>
          </a:p>
          <a:p>
            <a:r>
              <a:t>開時間，等編劇組兩場。只用一次天道：賜福或者天劫，然後停手。</a:t>
            </a:r>
          </a:p>
          <a:p>
            <a:r>
              <a:t>可選貼 OpenRouter Key，編劇同畫師就喺背景開工。冇 Key 一樣完整。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收束。放置遊戲可以係一場有人、有怨、有遺產嘅戲。你係天道。少出手。睇住人。畫面永遠有人。</a:t>
            </a:r>
          </a:p>
          <a:p>
            <a:r>
              <a:t>人死功法在。家在，戲就未完。github.io/family。多謝。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80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5696712" y="777240"/>
            <a:ext cx="804672" cy="804672"/>
          </a:xfrm>
          <a:prstGeom prst="diamond">
            <a:avLst/>
          </a:prstGeom>
          <a:solidFill>
            <a:srgbClr val="16120C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96712" y="1002548"/>
            <a:ext cx="804672" cy="3862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D4AF37"/>
                </a:solidFill>
                <a:latin typeface="Microsoft YaHei"/>
                <a:ea typeface="Microsoft YaHei"/>
              </a:rPr>
              <a:t>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27632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D4AF37"/>
                </a:solidFill>
                <a:latin typeface="Microsoft YaHei"/>
                <a:ea typeface="Microsoft YaHei"/>
              </a:rPr>
              <a:t>蒼梧山  ·  教父山門  ·  GODFATHER GATE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29968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5400" b="1">
                <a:solidFill>
                  <a:srgbClr val="D4AF37"/>
                </a:solidFill>
                <a:latin typeface="Microsoft YaHei"/>
                <a:ea typeface="Microsoft YaHei"/>
              </a:rPr>
              <a:t>教父世家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44368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B8A888"/>
                </a:solidFill>
                <a:latin typeface="Microsoft YaHei"/>
                <a:ea typeface="Microsoft YaHei"/>
              </a:rPr>
              <a:t>THE FAMILY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01568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0">
                <a:solidFill>
                  <a:srgbClr val="F4E8C8"/>
                </a:solidFill>
                <a:latin typeface="Microsoft YaHei"/>
                <a:ea typeface="Microsoft YaHei"/>
              </a:rPr>
              <a:t>你唔係點擊升級。你係天道。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160520"/>
            <a:ext cx="10698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B8A888"/>
                </a:solidFill>
                <a:latin typeface="Microsoft YaHei"/>
                <a:ea typeface="Microsoft YaHei"/>
              </a:rPr>
              <a:t>約 3 分鐘  ·  含製作 workflow  ·  演示畫先上</a:t>
            </a:r>
          </a:p>
          <a:p>
            <a:pPr algn="ctr">
              <a:spcAft>
                <a:spcPts val="600"/>
              </a:spcAft>
            </a:pPr>
            <a:r>
              <a:rPr sz="1800" b="1">
                <a:solidFill>
                  <a:srgbClr val="7EC8C3"/>
                </a:solidFill>
                <a:latin typeface="Microsoft YaHei"/>
                <a:ea typeface="Microsoft YaHei"/>
              </a:rPr>
              <a:t>玩：https://yip-lgtm.github.io/family/</a:t>
            </a:r>
          </a:p>
          <a:p>
            <a:pPr algn="ctr">
              <a:spcAft>
                <a:spcPts val="600"/>
              </a:spcAft>
            </a:pPr>
            <a:r>
              <a:rPr sz="1600" b="0">
                <a:solidFill>
                  <a:srgbClr val="B8A888"/>
                </a:solidFill>
                <a:latin typeface="Microsoft YaHei"/>
                <a:ea typeface="Microsoft YaHei"/>
              </a:rPr>
              <a:t>源碼：https://github.com/yip-lgtm/family.git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80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74980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B8A888"/>
                </a:solidFill>
                <a:latin typeface="Microsoft YaHei"/>
                <a:ea typeface="Microsoft YaHei"/>
              </a:rPr>
              <a:t>教父世家  ·  THE FAMILY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6473952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B8A888"/>
                </a:solidFill>
                <a:latin typeface="Microsoft YaHei"/>
                <a:ea typeface="Microsoft YaHei"/>
              </a:rPr>
              <a:t>02  / 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9260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D4AF37"/>
                </a:solidFill>
                <a:latin typeface="Microsoft YaHei"/>
                <a:ea typeface="Microsoft YaHei"/>
              </a:rPr>
              <a:t>01  ·  唔係點擊遊戲</a:t>
            </a:r>
          </a:p>
          <a:p>
            <a:pPr algn="l">
              <a:spcAft>
                <a:spcPts val="600"/>
              </a:spcAft>
            </a:pPr>
            <a:r>
              <a:rPr sz="3200" b="1">
                <a:solidFill>
                  <a:srgbClr val="F4E8C8"/>
                </a:solidFill>
                <a:latin typeface="Microsoft YaHei"/>
                <a:ea typeface="Microsoft YaHei"/>
              </a:rPr>
              <a:t>玩家角色：天道，唔係農夫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3474720" cy="4297680"/>
          </a:xfrm>
          <a:prstGeom prst="roundRect">
            <a:avLst/>
          </a:prstGeom>
          <a:solidFill>
            <a:srgbClr val="16120C"/>
          </a:solidFill>
          <a:ln w="15875">
            <a:solidFill>
              <a:srgbClr val="B8A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2024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B8A888"/>
                </a:solidFill>
                <a:latin typeface="Microsoft YaHei"/>
                <a:ea typeface="Microsoft YaHei"/>
              </a:rPr>
              <a:t>傳統放置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606040"/>
            <a:ext cx="3017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F4E8C8"/>
                </a:solidFill>
                <a:latin typeface="Microsoft YaHei"/>
                <a:ea typeface="Microsoft YaHei"/>
              </a:rPr>
              <a:t>囤靈氣
買升級
睇數字漲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91640"/>
            <a:ext cx="3474720" cy="4297680"/>
          </a:xfrm>
          <a:prstGeom prst="roundRect">
            <a:avLst/>
          </a:prstGeom>
          <a:solidFill>
            <a:srgbClr val="16120C"/>
          </a:solidFill>
          <a:ln w="1587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92024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D4AF37"/>
                </a:solidFill>
                <a:latin typeface="Microsoft YaHei"/>
                <a:ea typeface="Microsoft YaHei"/>
              </a:rPr>
              <a:t>教父世家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606040"/>
            <a:ext cx="3017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F4E8C8"/>
                </a:solidFill>
                <a:latin typeface="Microsoft YaHei"/>
                <a:ea typeface="Microsoft YaHei"/>
              </a:rPr>
              <a:t>養人
改命
睇戲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59" y="1691640"/>
            <a:ext cx="3474720" cy="4297680"/>
          </a:xfrm>
          <a:prstGeom prst="roundRect">
            <a:avLst/>
          </a:prstGeom>
          <a:solidFill>
            <a:srgbClr val="16120C"/>
          </a:solidFill>
          <a:ln w="15875">
            <a:solidFill>
              <a:srgbClr val="7EC8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59" y="192024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7EC8C3"/>
                </a:solidFill>
                <a:latin typeface="Microsoft YaHei"/>
                <a:ea typeface="Microsoft YaHei"/>
              </a:rPr>
              <a:t>你出手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59" y="2606040"/>
            <a:ext cx="3017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F4E8C8"/>
                </a:solidFill>
                <a:latin typeface="Microsoft YaHei"/>
                <a:ea typeface="Microsoft YaHei"/>
              </a:rPr>
              <a:t>賜福 · 天劫
心魔 · 指派
耗的是氣運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80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74980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B8A888"/>
                </a:solidFill>
                <a:latin typeface="Microsoft YaHei"/>
                <a:ea typeface="Microsoft YaHei"/>
              </a:rPr>
              <a:t>教父世家  ·  THE FAMILY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6473952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B8A888"/>
                </a:solidFill>
                <a:latin typeface="Microsoft YaHei"/>
                <a:ea typeface="Microsoft YaHei"/>
              </a:rPr>
              <a:t>03  / 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9260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D4AF37"/>
                </a:solidFill>
                <a:latin typeface="Microsoft YaHei"/>
                <a:ea typeface="Microsoft YaHei"/>
              </a:rPr>
              <a:t>02  ·  天道介面</a:t>
            </a:r>
          </a:p>
          <a:p>
            <a:pPr algn="l">
              <a:spcAft>
                <a:spcPts val="600"/>
              </a:spcAft>
            </a:pPr>
            <a:r>
              <a:rPr sz="2800" b="1">
                <a:solidFill>
                  <a:srgbClr val="F4E8C8"/>
                </a:solidFill>
                <a:latin typeface="Microsoft YaHei"/>
                <a:ea typeface="Microsoft YaHei"/>
              </a:rPr>
              <a:t>一屏睇晒山門、人、同你可改嘅命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3657600" cy="2148840"/>
          </a:xfrm>
          <a:prstGeom prst="roundRect">
            <a:avLst/>
          </a:prstGeom>
          <a:solidFill>
            <a:srgbClr val="14100A"/>
          </a:solidFill>
          <a:ln w="1587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581912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D4AF37"/>
                </a:solidFill>
                <a:latin typeface="Microsoft YaHei"/>
                <a:ea typeface="Microsoft YaHei"/>
              </a:rPr>
              <a:t>曆法 HUD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57400"/>
            <a:ext cx="32918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F4E8C8"/>
                </a:solidFill>
                <a:latin typeface="Microsoft YaHei"/>
                <a:ea typeface="Microsoft YaHei"/>
              </a:rPr>
              <a:t>玄元曆、氣運、人口、最高境界。暫停、一倍、三倍、八倍過月。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417320"/>
            <a:ext cx="3657600" cy="2148840"/>
          </a:xfrm>
          <a:prstGeom prst="roundRect">
            <a:avLst/>
          </a:prstGeom>
          <a:solidFill>
            <a:srgbClr val="14100A"/>
          </a:solidFill>
          <a:ln w="1587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581912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D4AF37"/>
                </a:solidFill>
                <a:latin typeface="Microsoft YaHei"/>
                <a:ea typeface="Microsoft YaHei"/>
              </a:rPr>
              <a:t>教父山門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057400"/>
            <a:ext cx="32918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F4E8C8"/>
                </a:solidFill>
                <a:latin typeface="Microsoft YaHei"/>
                <a:ea typeface="Microsoft YaHei"/>
              </a:rPr>
              <a:t>GODFATHER GATE。靈樞、後山、丹房、藏經閣、山門、雲市。人會自己揀去邊。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80" y="1417320"/>
            <a:ext cx="3657600" cy="2148840"/>
          </a:xfrm>
          <a:prstGeom prst="roundRect">
            <a:avLst/>
          </a:prstGeom>
          <a:solidFill>
            <a:srgbClr val="14100A"/>
          </a:solidFill>
          <a:ln w="1587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1581912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D4AF37"/>
                </a:solidFill>
                <a:latin typeface="Microsoft YaHei"/>
                <a:ea typeface="Microsoft YaHei"/>
              </a:rPr>
              <a:t>人物檢視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057400"/>
            <a:ext cx="32918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F4E8C8"/>
                </a:solidFill>
                <a:latin typeface="Microsoft YaHei"/>
                <a:ea typeface="Microsoft YaHei"/>
              </a:rPr>
              <a:t>根骨、心性、功法、丹藥、法寶、心事、記憶、關係。開場畫像即見。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749039"/>
            <a:ext cx="3657600" cy="2148840"/>
          </a:xfrm>
          <a:prstGeom prst="roundRect">
            <a:avLst/>
          </a:prstGeom>
          <a:solidFill>
            <a:srgbClr val="14100A"/>
          </a:solidFill>
          <a:ln w="1587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913631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D4AF37"/>
                </a:solidFill>
                <a:latin typeface="Microsoft YaHei"/>
                <a:ea typeface="Microsoft YaHei"/>
              </a:rPr>
              <a:t>天道四鍵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389119"/>
            <a:ext cx="32918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F4E8C8"/>
                </a:solidFill>
                <a:latin typeface="Microsoft YaHei"/>
                <a:ea typeface="Microsoft YaHei"/>
              </a:rPr>
              <a:t>賜福八氣運、天劫十二、心魔十、指派三。氣運唔夠就唔好亂改。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43400" y="3749039"/>
            <a:ext cx="3657600" cy="2148840"/>
          </a:xfrm>
          <a:prstGeom prst="roundRect">
            <a:avLst/>
          </a:prstGeom>
          <a:solidFill>
            <a:srgbClr val="14100A"/>
          </a:solidFill>
          <a:ln w="1587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80" y="3913631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D4AF37"/>
                </a:solidFill>
                <a:latin typeface="Microsoft YaHei"/>
                <a:ea typeface="Microsoft YaHei"/>
              </a:rPr>
              <a:t>家族傳承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4389119"/>
            <a:ext cx="32918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F4E8C8"/>
                </a:solidFill>
                <a:latin typeface="Microsoft YaHei"/>
                <a:ea typeface="Microsoft YaHei"/>
              </a:rPr>
              <a:t>家訓、老祖突破、三選一天賦。金丹元嬰有金光。老祖唔會死。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83880" y="3749039"/>
            <a:ext cx="3657600" cy="2148840"/>
          </a:xfrm>
          <a:prstGeom prst="roundRect">
            <a:avLst/>
          </a:prstGeom>
          <a:solidFill>
            <a:srgbClr val="14100A"/>
          </a:solidFill>
          <a:ln w="1587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66760" y="3913631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D4AF37"/>
                </a:solidFill>
                <a:latin typeface="Microsoft YaHei"/>
                <a:ea typeface="Microsoft YaHei"/>
              </a:rPr>
              <a:t>事件流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4389119"/>
            <a:ext cx="32918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F4E8C8"/>
                </a:solidFill>
                <a:latin typeface="Microsoft YaHei"/>
                <a:ea typeface="Microsoft YaHei"/>
              </a:rPr>
              <a:t>功法、丹方、法寶、紀年。人死功法可以留下。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80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74980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B8A888"/>
                </a:solidFill>
                <a:latin typeface="Microsoft YaHei"/>
                <a:ea typeface="Microsoft YaHei"/>
              </a:rPr>
              <a:t>教父世家  ·  THE FAMILY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6473952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B8A888"/>
                </a:solidFill>
                <a:latin typeface="Microsoft YaHei"/>
                <a:ea typeface="Microsoft YaHei"/>
              </a:rPr>
              <a:t>04  / 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D4AF37"/>
                </a:solidFill>
                <a:latin typeface="Microsoft YaHei"/>
                <a:ea typeface="Microsoft YaHei"/>
              </a:rPr>
              <a:t>03  ·  活人，唔係數值</a:t>
            </a:r>
          </a:p>
          <a:p>
            <a:pPr algn="l">
              <a:spcAft>
                <a:spcPts val="600"/>
              </a:spcAft>
            </a:pPr>
            <a:r>
              <a:rPr sz="2800" b="1">
                <a:solidFill>
                  <a:srgbClr val="F4E8C8"/>
                </a:solidFill>
                <a:latin typeface="Microsoft YaHei"/>
                <a:ea typeface="Microsoft YaHei"/>
              </a:rPr>
              <a:t>開局六人 · 畫像已捆進遊戲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70432"/>
            <a:ext cx="3657600" cy="2286000"/>
          </a:xfrm>
          <a:prstGeom prst="roundRect">
            <a:avLst/>
          </a:prstGeom>
          <a:solidFill>
            <a:srgbClr val="14100A"/>
          </a:solidFill>
          <a:ln w="1587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371600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D4AF37"/>
                </a:solidFill>
                <a:latin typeface="Microsoft YaHei"/>
                <a:ea typeface="Microsoft YaHei"/>
              </a:rPr>
              <a:t>青玄機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188366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7EC8C3"/>
                </a:solidFill>
                <a:latin typeface="Microsoft YaHei"/>
                <a:ea typeface="Microsoft YaHei"/>
              </a:rPr>
              <a:t>老祖 · 《青嵐吐納訣》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2340864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4E8C8"/>
                </a:solidFill>
                <a:latin typeface="Microsoft YaHei"/>
                <a:ea typeface="Microsoft YaHei"/>
              </a:rPr>
              <a:t>鎮山門。你唔可以等佢死。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170432"/>
            <a:ext cx="3657600" cy="2286000"/>
          </a:xfrm>
          <a:prstGeom prst="roundRect">
            <a:avLst/>
          </a:prstGeom>
          <a:solidFill>
            <a:srgbClr val="14100A"/>
          </a:solidFill>
          <a:ln w="1587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1371600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D4AF37"/>
                </a:solidFill>
                <a:latin typeface="Microsoft YaHei"/>
                <a:ea typeface="Microsoft YaHei"/>
              </a:rPr>
              <a:t>沈清梧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188366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7EC8C3"/>
                </a:solidFill>
                <a:latin typeface="Microsoft YaHei"/>
                <a:ea typeface="Microsoft YaHei"/>
              </a:rPr>
              <a:t>長老 · 穩、顧家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340864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4E8C8"/>
                </a:solidFill>
                <a:latin typeface="Microsoft YaHei"/>
                <a:ea typeface="Microsoft YaHei"/>
              </a:rPr>
              <a:t>會頂老祖，家要先立住。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1170432"/>
            <a:ext cx="3657600" cy="2286000"/>
          </a:xfrm>
          <a:prstGeom prst="roundRect">
            <a:avLst/>
          </a:prstGeom>
          <a:solidFill>
            <a:srgbClr val="14100A"/>
          </a:solidFill>
          <a:ln w="1587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5048" y="1371600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D4AF37"/>
                </a:solidFill>
                <a:latin typeface="Microsoft YaHei"/>
                <a:ea typeface="Microsoft YaHei"/>
              </a:rPr>
              <a:t>葉疏影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5048" y="188366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7EC8C3"/>
                </a:solidFill>
                <a:latin typeface="Microsoft YaHei"/>
                <a:ea typeface="Microsoft YaHei"/>
              </a:rPr>
              <a:t>二代 · 冷、準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5048" y="2340864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4E8C8"/>
                </a:solidFill>
                <a:latin typeface="Microsoft YaHei"/>
                <a:ea typeface="Microsoft YaHei"/>
              </a:rPr>
              <a:t>同清梧有舊怨，戲先有衝突。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639312"/>
            <a:ext cx="3657600" cy="2286000"/>
          </a:xfrm>
          <a:prstGeom prst="roundRect">
            <a:avLst/>
          </a:prstGeom>
          <a:solidFill>
            <a:srgbClr val="14100A"/>
          </a:solidFill>
          <a:ln w="1587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" y="3840480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D4AF37"/>
                </a:solidFill>
                <a:latin typeface="Microsoft YaHei"/>
                <a:ea typeface="Microsoft YaHei"/>
              </a:rPr>
              <a:t>白無塵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" y="435254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7EC8C3"/>
                </a:solidFill>
                <a:latin typeface="Microsoft YaHei"/>
                <a:ea typeface="Microsoft YaHei"/>
              </a:rPr>
              <a:t>外來 · 身世成謎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" y="4809744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4E8C8"/>
                </a:solidFill>
                <a:latin typeface="Microsoft YaHei"/>
                <a:ea typeface="Microsoft YaHei"/>
              </a:rPr>
              <a:t>散修入譜，笑意難測。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43400" y="3639312"/>
            <a:ext cx="3657600" cy="2286000"/>
          </a:xfrm>
          <a:prstGeom prst="roundRect">
            <a:avLst/>
          </a:prstGeom>
          <a:solidFill>
            <a:srgbClr val="14100A"/>
          </a:solidFill>
          <a:ln w="1587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44568" y="3840480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D4AF37"/>
                </a:solidFill>
                <a:latin typeface="Microsoft YaHei"/>
                <a:ea typeface="Microsoft YaHei"/>
              </a:rPr>
              <a:t>蒼小魚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44568" y="435254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7EC8C3"/>
                </a:solidFill>
                <a:latin typeface="Microsoft YaHei"/>
                <a:ea typeface="Microsoft YaHei"/>
              </a:rPr>
              <a:t>丹房 · 貪生識時務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44568" y="4809744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4E8C8"/>
                </a:solidFill>
                <a:latin typeface="Microsoft YaHei"/>
                <a:ea typeface="Microsoft YaHei"/>
              </a:rPr>
              <a:t>會偷雞，亦會留低嚟。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83880" y="3639312"/>
            <a:ext cx="3657600" cy="2286000"/>
          </a:xfrm>
          <a:prstGeom prst="roundRect">
            <a:avLst/>
          </a:prstGeom>
          <a:solidFill>
            <a:srgbClr val="14100A"/>
          </a:solidFill>
          <a:ln w="1587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85048" y="3840480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D4AF37"/>
                </a:solidFill>
                <a:latin typeface="Microsoft YaHei"/>
                <a:ea typeface="Microsoft YaHei"/>
              </a:rPr>
              <a:t>嵐七七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5048" y="435254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7EC8C3"/>
                </a:solidFill>
                <a:latin typeface="Microsoft YaHei"/>
                <a:ea typeface="Microsoft YaHei"/>
              </a:rPr>
              <a:t>記名 · 細、靈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5048" y="4809744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4E8C8"/>
                </a:solidFill>
                <a:latin typeface="Microsoft YaHei"/>
                <a:ea typeface="Microsoft YaHei"/>
              </a:rPr>
              <a:t>成日問不該問嘅嘢。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80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74980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B8A888"/>
                </a:solidFill>
                <a:latin typeface="Microsoft YaHei"/>
                <a:ea typeface="Microsoft YaHei"/>
              </a:rPr>
              <a:t>教父世家  ·  THE FAMILY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6473952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B8A888"/>
                </a:solidFill>
                <a:latin typeface="Microsoft YaHei"/>
                <a:ea typeface="Microsoft YaHei"/>
              </a:rPr>
              <a:t>05  / 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D4AF37"/>
                </a:solidFill>
                <a:latin typeface="Microsoft YaHei"/>
                <a:ea typeface="Microsoft YaHei"/>
              </a:rPr>
              <a:t>04  ·  編劇組 + OpenRouter</a:t>
            </a:r>
          </a:p>
          <a:p>
            <a:pPr algn="l">
              <a:spcAft>
                <a:spcPts val="600"/>
              </a:spcAft>
            </a:pPr>
            <a:r>
              <a:rPr sz="2800" b="1">
                <a:solidFill>
                  <a:srgbClr val="F4E8C8"/>
                </a:solidFill>
                <a:latin typeface="Microsoft YaHei"/>
                <a:ea typeface="Microsoft YaHei"/>
              </a:rPr>
              <a:t>《教父》三部曲節奏，唔抄對白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70432"/>
            <a:ext cx="3657600" cy="2194560"/>
          </a:xfrm>
          <a:prstGeom prst="roundRect">
            <a:avLst/>
          </a:prstGeom>
          <a:solidFill>
            <a:srgbClr val="14100A"/>
          </a:solidFill>
          <a:ln w="1587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298448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B8A888"/>
                </a:solidFill>
                <a:latin typeface="Microsoft YaHei"/>
                <a:ea typeface="Microsoft YaHei"/>
              </a:rPr>
              <a:t>第一幕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627632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D4AF37"/>
                </a:solidFill>
                <a:latin typeface="Microsoft YaHei"/>
                <a:ea typeface="Microsoft YaHei"/>
              </a:rPr>
              <a:t>血色開端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21408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F4E8C8"/>
                </a:solidFill>
                <a:latin typeface="Microsoft YaHei"/>
                <a:ea typeface="Microsoft YaHei"/>
              </a:rPr>
              <a:t>權力真空、聯姻、暗湧。家要先立住。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170432"/>
            <a:ext cx="3657600" cy="2194560"/>
          </a:xfrm>
          <a:prstGeom prst="roundRect">
            <a:avLst/>
          </a:prstGeom>
          <a:solidFill>
            <a:srgbClr val="14100A"/>
          </a:solidFill>
          <a:ln w="1587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298448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B8A888"/>
                </a:solidFill>
                <a:latin typeface="Microsoft YaHei"/>
                <a:ea typeface="Microsoft YaHei"/>
              </a:rPr>
              <a:t>第二幕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1627632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D4AF37"/>
                </a:solidFill>
                <a:latin typeface="Microsoft YaHei"/>
                <a:ea typeface="Microsoft YaHei"/>
              </a:rPr>
              <a:t>雙生歲月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121408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F4E8C8"/>
                </a:solidFill>
                <a:latin typeface="Microsoft YaHei"/>
                <a:ea typeface="Microsoft YaHei"/>
              </a:rPr>
              <a:t>繼承、背叛、事業擴張。人開始唔同路。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1170432"/>
            <a:ext cx="3657600" cy="2194560"/>
          </a:xfrm>
          <a:prstGeom prst="roundRect">
            <a:avLst/>
          </a:prstGeom>
          <a:solidFill>
            <a:srgbClr val="14100A"/>
          </a:solidFill>
          <a:ln w="1587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1298448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B8A888"/>
                </a:solidFill>
                <a:latin typeface="Microsoft YaHei"/>
                <a:ea typeface="Microsoft YaHei"/>
              </a:rPr>
              <a:t>第三幕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1627632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D4AF37"/>
                </a:solidFill>
                <a:latin typeface="Microsoft YaHei"/>
                <a:ea typeface="Microsoft YaHei"/>
              </a:rPr>
              <a:t>最後輓歌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121408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F4E8C8"/>
                </a:solidFill>
                <a:latin typeface="Microsoft YaHei"/>
                <a:ea typeface="Microsoft YaHei"/>
              </a:rPr>
              <a:t>贖罪、遺產、落幕。唔一定團圓。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566160"/>
            <a:ext cx="11155680" cy="2606040"/>
          </a:xfrm>
          <a:prstGeom prst="roundRect">
            <a:avLst/>
          </a:prstGeom>
          <a:solidFill>
            <a:srgbClr val="14100A"/>
          </a:solidFill>
          <a:ln w="15875">
            <a:solidFill>
              <a:srgbClr val="7EC8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730752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7EC8C3"/>
                </a:solidFill>
                <a:latin typeface="Microsoft YaHei"/>
                <a:ea typeface="Microsoft YaHei"/>
              </a:rPr>
              <a:t>現場：每兩個月自動一場戲 · 可按「下一場」催更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F4E8C8"/>
                </a:solidFill>
                <a:latin typeface="Microsoft YaHei"/>
                <a:ea typeface="Microsoft YaHei"/>
              </a:rPr>
              <a:t>有 Key：文字預設 openrouter/free。編劇喺背景無限連載，冷卻更短。Key 只喺瀏覽器。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F4E8C8"/>
                </a:solidFill>
                <a:latin typeface="Microsoft YaHei"/>
                <a:ea typeface="Microsoft YaHei"/>
              </a:rPr>
              <a:t>冇 Key / 失敗：劇組代班——仍然係完整劇本，唔會停機。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F4E8C8"/>
                </a:solidFill>
                <a:latin typeface="Microsoft YaHei"/>
                <a:ea typeface="Microsoft YaHei"/>
              </a:rPr>
              <a:t>致敬結構同主題，唔抄電影對白，唔抄電影人名。戲會寫入心事同關係。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80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74980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B8A888"/>
                </a:solidFill>
                <a:latin typeface="Microsoft YaHei"/>
                <a:ea typeface="Microsoft YaHei"/>
              </a:rPr>
              <a:t>教父世家  ·  THE FAMILY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6473952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B8A888"/>
                </a:solidFill>
                <a:latin typeface="Microsoft YaHei"/>
                <a:ea typeface="Microsoft YaHei"/>
              </a:rPr>
              <a:t>06  / 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D4AF37"/>
                </a:solidFill>
                <a:latin typeface="Microsoft YaHei"/>
                <a:ea typeface="Microsoft YaHei"/>
              </a:rPr>
              <a:t>05  ·  畫面永遠有人</a:t>
            </a:r>
          </a:p>
          <a:p>
            <a:pPr algn="l">
              <a:spcAft>
                <a:spcPts val="600"/>
              </a:spcAft>
            </a:pPr>
            <a:r>
              <a:rPr sz="2800" b="1">
                <a:solidFill>
                  <a:srgbClr val="F4E8C8"/>
                </a:solidFill>
                <a:latin typeface="Microsoft YaHei"/>
                <a:ea typeface="Microsoft YaHei"/>
              </a:rPr>
              <a:t>演示畫先上，LLM 畫好先換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70432"/>
            <a:ext cx="5577840" cy="1828800"/>
          </a:xfrm>
          <a:prstGeom prst="roundRect">
            <a:avLst/>
          </a:prstGeom>
          <a:solidFill>
            <a:srgbClr val="14100A"/>
          </a:solidFill>
          <a:ln w="1587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353312"/>
            <a:ext cx="5074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D4AF37"/>
                </a:solidFill>
                <a:latin typeface="Microsoft YaHei"/>
                <a:ea typeface="Microsoft YaHei"/>
              </a:rPr>
              <a:t>開場六人畫像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828800"/>
            <a:ext cx="5074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F4E8C8"/>
                </a:solidFill>
                <a:latin typeface="Microsoft YaHei"/>
                <a:ea typeface="Microsoft YaHei"/>
              </a:rPr>
              <a:t>青玄機、沈清梧、葉疏影、白無塵、蒼小魚、嵐七七。捆進遊戲，一開即見。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1170432"/>
            <a:ext cx="5577840" cy="1828800"/>
          </a:xfrm>
          <a:prstGeom prst="roundRect">
            <a:avLst/>
          </a:prstGeom>
          <a:solidFill>
            <a:srgbClr val="14100A"/>
          </a:solidFill>
          <a:ln w="1587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1" y="1353312"/>
            <a:ext cx="5074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D4AF37"/>
                </a:solidFill>
                <a:latin typeface="Microsoft YaHei"/>
                <a:ea typeface="Microsoft YaHei"/>
              </a:rPr>
              <a:t>場次演示畫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5391" y="1828800"/>
            <a:ext cx="5074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F4E8C8"/>
                </a:solidFill>
                <a:latin typeface="Microsoft YaHei"/>
                <a:ea typeface="Microsoft YaHei"/>
              </a:rPr>
              <a:t>大殿夜宴、雨中石階、山門、燈密室。場戲一出就有畫面。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136391"/>
            <a:ext cx="5577840" cy="1828800"/>
          </a:xfrm>
          <a:prstGeom prst="roundRect">
            <a:avLst/>
          </a:prstGeom>
          <a:solidFill>
            <a:srgbClr val="14100A"/>
          </a:solidFill>
          <a:ln w="1587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" y="3319271"/>
            <a:ext cx="5074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D4AF37"/>
                </a:solidFill>
                <a:latin typeface="Microsoft YaHei"/>
                <a:ea typeface="Microsoft YaHei"/>
              </a:rPr>
              <a:t>背景無限出圖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3794759"/>
            <a:ext cx="5074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F4E8C8"/>
                </a:solidFill>
                <a:latin typeface="Microsoft YaHei"/>
                <a:ea typeface="Microsoft YaHei"/>
              </a:rPr>
              <a:t>有 Key：編劇同畫師喺背景不停寫、不停畫。512 檔細圖，唔擋操作。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59" y="3136391"/>
            <a:ext cx="5577840" cy="1828800"/>
          </a:xfrm>
          <a:prstGeom prst="roundRect">
            <a:avLst/>
          </a:prstGeom>
          <a:solidFill>
            <a:srgbClr val="14100A"/>
          </a:solidFill>
          <a:ln w="1587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65391" y="3319271"/>
            <a:ext cx="5074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D4AF37"/>
                </a:solidFill>
                <a:latin typeface="Microsoft YaHei"/>
                <a:ea typeface="Microsoft YaHei"/>
              </a:rPr>
              <a:t>靜默重試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5391" y="3794759"/>
            <a:ext cx="5074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F4E8C8"/>
                </a:solidFill>
                <a:latin typeface="Microsoft YaHei"/>
                <a:ea typeface="Microsoft YaHei"/>
              </a:rPr>
              <a:t>失敗就自己再試。演示畫留住，直到 LLM 畫換上去。唔會空白「插畫未成」。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5193792"/>
            <a:ext cx="11155680" cy="1024128"/>
          </a:xfrm>
          <a:prstGeom prst="roundRect">
            <a:avLst/>
          </a:prstGeom>
          <a:solidFill>
            <a:srgbClr val="14100A"/>
          </a:solidFill>
          <a:ln w="15875">
            <a:solidFill>
              <a:srgbClr val="7EC8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321808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7EC8C3"/>
                </a:solidFill>
                <a:latin typeface="Microsoft YaHei"/>
                <a:ea typeface="Microsoft YaHei"/>
              </a:rPr>
              <a:t>插畫預設 google/gemini-2.5-flash-image  ·  模型設定可關「自動生成插畫」  ·  冇 Key 就留演示畫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80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74980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B8A888"/>
                </a:solidFill>
                <a:latin typeface="Microsoft YaHei"/>
                <a:ea typeface="Microsoft YaHei"/>
              </a:rPr>
              <a:t>教父世家  ·  THE FAMILY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6473952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B8A888"/>
                </a:solidFill>
                <a:latin typeface="Microsoft YaHei"/>
                <a:ea typeface="Microsoft YaHei"/>
              </a:rPr>
              <a:t>07  / 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D4AF37"/>
                </a:solidFill>
                <a:latin typeface="Microsoft YaHei"/>
                <a:ea typeface="Microsoft YaHei"/>
              </a:rPr>
              <a:t>06  ·  金漆山門，現場聲畫</a:t>
            </a:r>
          </a:p>
          <a:p>
            <a:pPr algn="l">
              <a:spcAft>
                <a:spcPts val="600"/>
              </a:spcAft>
            </a:pPr>
            <a:r>
              <a:rPr sz="2600" b="1">
                <a:solidFill>
                  <a:srgbClr val="F4E8C8"/>
                </a:solidFill>
                <a:latin typeface="Microsoft YaHei"/>
                <a:ea typeface="Microsoft YaHei"/>
              </a:rPr>
              <a:t>CSS 牌坊 · Web Audio · 嗶哩官方嵌入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70432"/>
            <a:ext cx="5577840" cy="2194560"/>
          </a:xfrm>
          <a:prstGeom prst="roundRect">
            <a:avLst/>
          </a:prstGeom>
          <a:solidFill>
            <a:srgbClr val="14100A"/>
          </a:solidFill>
          <a:ln w="1587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39903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D4AF37"/>
                </a:solidFill>
                <a:latin typeface="Microsoft YaHei"/>
                <a:ea typeface="Microsoft YaHei"/>
              </a:rPr>
              <a:t>視覺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947672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4E8C8"/>
                </a:solidFill>
                <a:latin typeface="Microsoft YaHei"/>
                <a:ea typeface="Microsoft YaHei"/>
              </a:rPr>
              <a:t>CSS 金漆牌坊、墨底描金、品牌印「父」。Canvas 靈塵。突破金光。演示畫打進倉庫，唔靠外鏈圖床。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1170432"/>
            <a:ext cx="5577840" cy="2194560"/>
          </a:xfrm>
          <a:prstGeom prst="roundRect">
            <a:avLst/>
          </a:prstGeom>
          <a:solidFill>
            <a:srgbClr val="14100A"/>
          </a:solidFill>
          <a:ln w="1587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79" y="139903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D4AF37"/>
                </a:solidFill>
                <a:latin typeface="Microsoft YaHei"/>
                <a:ea typeface="Microsoft YaHei"/>
              </a:rPr>
              <a:t>音效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79" y="1947672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4E8C8"/>
                </a:solidFill>
                <a:latin typeface="Microsoft YaHei"/>
                <a:ea typeface="Microsoft YaHei"/>
              </a:rPr>
              <a:t>瀏覽器合成木魚、磬、雷、心魔。一鍵靜音。唔使下載音檔。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547872"/>
            <a:ext cx="5577840" cy="2194560"/>
          </a:xfrm>
          <a:prstGeom prst="roundRect">
            <a:avLst/>
          </a:prstGeom>
          <a:solidFill>
            <a:srgbClr val="14100A"/>
          </a:solidFill>
          <a:ln w="1587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77647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D4AF37"/>
                </a:solidFill>
                <a:latin typeface="Microsoft YaHei"/>
                <a:ea typeface="Microsoft YaHei"/>
              </a:rPr>
              <a:t>BGM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325112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4E8C8"/>
                </a:solidFill>
                <a:latin typeface="Microsoft YaHei"/>
                <a:ea typeface="Microsoft YaHei"/>
              </a:rPr>
              <a:t>嗶哩嗶哩官方嵌入《關注塔菲喵》循環歌單。可縮小成一條。唔下載、唔轉檔、唔盜鏈音源。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59" y="3547872"/>
            <a:ext cx="5577840" cy="2194560"/>
          </a:xfrm>
          <a:prstGeom prst="roundRect">
            <a:avLst/>
          </a:prstGeom>
          <a:solidFill>
            <a:srgbClr val="14100A"/>
          </a:solidFill>
          <a:ln w="1587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79" y="377647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D4AF37"/>
                </a:solidFill>
                <a:latin typeface="Microsoft YaHei"/>
                <a:ea typeface="Microsoft YaHei"/>
              </a:rPr>
              <a:t>技術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79" y="4325112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4E8C8"/>
                </a:solidFill>
                <a:latin typeface="Microsoft YaHei"/>
                <a:ea typeface="Microsoft YaHei"/>
              </a:rPr>
              <a:t>Vite + 原生 JS。規則、編劇、畫師分檔。GitHub Pages 可直接開。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80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74980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B8A888"/>
                </a:solidFill>
                <a:latin typeface="Microsoft YaHei"/>
                <a:ea typeface="Microsoft YaHei"/>
              </a:rPr>
              <a:t>教父世家  ·  THE FAMILY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6473952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B8A888"/>
                </a:solidFill>
                <a:latin typeface="Microsoft YaHei"/>
                <a:ea typeface="Microsoft YaHei"/>
              </a:rPr>
              <a:t>08  / 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D4AF37"/>
                </a:solidFill>
                <a:latin typeface="Microsoft YaHei"/>
                <a:ea typeface="Microsoft YaHei"/>
              </a:rPr>
              <a:t>07  ·  教父世家製作 workflow</a:t>
            </a:r>
          </a:p>
          <a:p>
            <a:pPr algn="l">
              <a:spcAft>
                <a:spcPts val="600"/>
              </a:spcAft>
            </a:pPr>
            <a:r>
              <a:rPr sz="2400" b="1">
                <a:solidFill>
                  <a:srgbClr val="F4E8C8"/>
                </a:solidFill>
                <a:latin typeface="Microsoft YaHei"/>
                <a:ea typeface="Microsoft YaHei"/>
              </a:rPr>
              <a:t>先立天道，再寫規則，畫面先演示再 LLM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15568"/>
            <a:ext cx="3657600" cy="2286000"/>
          </a:xfrm>
          <a:prstGeom prst="roundRect">
            <a:avLst/>
          </a:prstGeom>
          <a:solidFill>
            <a:srgbClr val="14100A"/>
          </a:solidFill>
          <a:ln w="1587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6187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D4AF37"/>
                </a:solidFill>
                <a:latin typeface="Microsoft YaHei"/>
                <a:ea typeface="Microsoft YaHei"/>
              </a:rPr>
              <a:t>1  ·  立意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32918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F4E8C8"/>
                </a:solidFill>
                <a:latin typeface="Microsoft YaHei"/>
                <a:ea typeface="Microsoft YaHei"/>
              </a:rPr>
              <a:t>玩家係天道。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F4E8C8"/>
                </a:solidFill>
                <a:latin typeface="Microsoft YaHei"/>
                <a:ea typeface="Microsoft YaHei"/>
              </a:rPr>
              <a:t>養人、改命、睇戲。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F4E8C8"/>
                </a:solidFill>
                <a:latin typeface="Microsoft YaHei"/>
                <a:ea typeface="Microsoft YaHei"/>
              </a:rPr>
              <a:t>唔做點擊農夫。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115568"/>
            <a:ext cx="3657600" cy="2286000"/>
          </a:xfrm>
          <a:prstGeom prst="roundRect">
            <a:avLst/>
          </a:prstGeom>
          <a:solidFill>
            <a:srgbClr val="14100A"/>
          </a:solidFill>
          <a:ln w="1587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26187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D4AF37"/>
                </a:solidFill>
                <a:latin typeface="Microsoft YaHei"/>
                <a:ea typeface="Microsoft YaHei"/>
              </a:rPr>
              <a:t>2  ·  規則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709928"/>
            <a:ext cx="32918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F4E8C8"/>
                </a:solidFill>
                <a:latin typeface="Microsoft YaHei"/>
                <a:ea typeface="Microsoft YaHei"/>
              </a:rPr>
              <a:t>world.js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F4E8C8"/>
                </a:solidFill>
                <a:latin typeface="Microsoft YaHei"/>
                <a:ea typeface="Microsoft YaHei"/>
              </a:rPr>
              <a:t>月結、根骨、壽元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F4E8C8"/>
                </a:solidFill>
                <a:latin typeface="Microsoft YaHei"/>
                <a:ea typeface="Microsoft YaHei"/>
              </a:rPr>
              <a:t>氣運、死亡、傳承。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115568"/>
            <a:ext cx="3657600" cy="2286000"/>
          </a:xfrm>
          <a:prstGeom prst="roundRect">
            <a:avLst/>
          </a:prstGeom>
          <a:solidFill>
            <a:srgbClr val="14100A"/>
          </a:solidFill>
          <a:ln w="1587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26187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D4AF37"/>
                </a:solidFill>
                <a:latin typeface="Microsoft YaHei"/>
                <a:ea typeface="Microsoft YaHei"/>
              </a:rPr>
              <a:t>3  ·  編劇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1709928"/>
            <a:ext cx="32918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F4E8C8"/>
                </a:solidFill>
                <a:latin typeface="Microsoft YaHei"/>
                <a:ea typeface="Microsoft YaHei"/>
              </a:rPr>
              <a:t>screenplay.js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F4E8C8"/>
                </a:solidFill>
                <a:latin typeface="Microsoft YaHei"/>
                <a:ea typeface="Microsoft YaHei"/>
              </a:rPr>
              <a:t>三幕節奏 + 劇組代班。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F4E8C8"/>
                </a:solidFill>
                <a:latin typeface="Microsoft YaHei"/>
                <a:ea typeface="Microsoft YaHei"/>
              </a:rPr>
              <a:t>有 Key 就背景無限連載。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584448"/>
            <a:ext cx="3657600" cy="2286000"/>
          </a:xfrm>
          <a:prstGeom prst="roundRect">
            <a:avLst/>
          </a:prstGeom>
          <a:solidFill>
            <a:srgbClr val="14100A"/>
          </a:solidFill>
          <a:ln w="1587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73075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D4AF37"/>
                </a:solidFill>
                <a:latin typeface="Microsoft YaHei"/>
                <a:ea typeface="Microsoft YaHei"/>
              </a:rPr>
              <a:t>4  ·  皮與聲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178808"/>
            <a:ext cx="32918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F4E8C8"/>
                </a:solidFill>
                <a:latin typeface="Microsoft YaHei"/>
                <a:ea typeface="Microsoft YaHei"/>
              </a:rPr>
              <a:t>先捆六人+場次演示畫。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F4E8C8"/>
                </a:solidFill>
                <a:latin typeface="Microsoft YaHei"/>
                <a:ea typeface="Microsoft YaHei"/>
              </a:rPr>
              <a:t>再接 LLM 背景出圖。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F4E8C8"/>
                </a:solidFill>
                <a:latin typeface="Microsoft YaHei"/>
                <a:ea typeface="Microsoft YaHei"/>
              </a:rPr>
              <a:t>CSS、Web Audio、嗶哩嵌入。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80" y="3584448"/>
            <a:ext cx="3657600" cy="2286000"/>
          </a:xfrm>
          <a:prstGeom prst="roundRect">
            <a:avLst/>
          </a:prstGeom>
          <a:solidFill>
            <a:srgbClr val="14100A"/>
          </a:solidFill>
          <a:ln w="1587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60" y="373075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D4AF37"/>
                </a:solidFill>
                <a:latin typeface="Microsoft YaHei"/>
                <a:ea typeface="Microsoft YaHei"/>
              </a:rPr>
              <a:t>5  ·  試玩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4178808"/>
            <a:ext cx="32918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F4E8C8"/>
                </a:solidFill>
                <a:latin typeface="Microsoft YaHei"/>
                <a:ea typeface="Microsoft YaHei"/>
              </a:rPr>
              <a:t>Vite 開 /family/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F4E8C8"/>
                </a:solidFill>
                <a:latin typeface="Microsoft YaHei"/>
                <a:ea typeface="Microsoft YaHei"/>
              </a:rPr>
              <a:t>改完即睇。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F4E8C8"/>
                </a:solidFill>
                <a:latin typeface="Microsoft YaHei"/>
                <a:ea typeface="Microsoft YaHei"/>
              </a:rPr>
              <a:t>細畫面、BGM、文案。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0" y="3584448"/>
            <a:ext cx="3657600" cy="2286000"/>
          </a:xfrm>
          <a:prstGeom prst="roundRect">
            <a:avLst/>
          </a:prstGeom>
          <a:solidFill>
            <a:srgbClr val="14100A"/>
          </a:solidFill>
          <a:ln w="1587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373075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D4AF37"/>
                </a:solidFill>
                <a:latin typeface="Microsoft YaHei"/>
                <a:ea typeface="Microsoft YaHei"/>
              </a:rPr>
              <a:t>6  ·  出貨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4178808"/>
            <a:ext cx="32918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F4E8C8"/>
                </a:solidFill>
                <a:latin typeface="Microsoft YaHei"/>
                <a:ea typeface="Microsoft YaHei"/>
              </a:rPr>
              <a:t>npm run build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F4E8C8"/>
                </a:solidFill>
                <a:latin typeface="Microsoft YaHei"/>
                <a:ea typeface="Microsoft YaHei"/>
              </a:rPr>
              <a:t>推 gh-pages。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F4E8C8"/>
                </a:solidFill>
                <a:latin typeface="Microsoft YaHei"/>
                <a:ea typeface="Microsoft YaHei"/>
              </a:rPr>
              <a:t>github.io/family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80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74980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B8A888"/>
                </a:solidFill>
                <a:latin typeface="Microsoft YaHei"/>
                <a:ea typeface="Microsoft YaHei"/>
              </a:rPr>
              <a:t>教父世家  ·  THE FAMILY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6473952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B8A888"/>
                </a:solidFill>
                <a:latin typeface="Microsoft YaHei"/>
                <a:ea typeface="Microsoft YaHei"/>
              </a:rPr>
              <a:t>09  / 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D4AF37"/>
                </a:solidFill>
                <a:latin typeface="Microsoft YaHei"/>
                <a:ea typeface="Microsoft YaHei"/>
              </a:rPr>
              <a:t>08  ·  工程回路</a:t>
            </a:r>
          </a:p>
          <a:p>
            <a:pPr algn="l">
              <a:spcAft>
                <a:spcPts val="600"/>
              </a:spcAft>
            </a:pPr>
            <a:r>
              <a:rPr sz="2600" b="1">
                <a:solidFill>
                  <a:srgbClr val="F4E8C8"/>
                </a:solidFill>
                <a:latin typeface="Microsoft YaHei"/>
                <a:ea typeface="Microsoft YaHei"/>
              </a:rPr>
              <a:t>六個檔，一條每日回路：改 → 睇 → 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3657600" cy="1298448"/>
          </a:xfrm>
          <a:prstGeom prst="roundRect">
            <a:avLst/>
          </a:prstGeom>
          <a:solidFill>
            <a:srgbClr val="14100A"/>
          </a:solidFill>
          <a:ln w="1587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43584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7EC8C3"/>
                </a:solidFill>
                <a:latin typeface="Microsoft YaHei"/>
                <a:ea typeface="Microsoft YaHei"/>
              </a:rPr>
              <a:t>world.js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6420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F4E8C8"/>
                </a:solidFill>
                <a:latin typeface="Microsoft YaHei"/>
                <a:ea typeface="Microsoft YaHei"/>
              </a:rPr>
              <a:t>月結、人物、天道四鍵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097280"/>
            <a:ext cx="3657600" cy="1298448"/>
          </a:xfrm>
          <a:prstGeom prst="roundRect">
            <a:avLst/>
          </a:prstGeom>
          <a:solidFill>
            <a:srgbClr val="14100A"/>
          </a:solidFill>
          <a:ln w="1587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243584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7EC8C3"/>
                </a:solidFill>
                <a:latin typeface="Microsoft YaHei"/>
                <a:ea typeface="Microsoft YaHei"/>
              </a:rPr>
              <a:t>screenplay.js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66420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F4E8C8"/>
                </a:solidFill>
                <a:latin typeface="Microsoft YaHei"/>
                <a:ea typeface="Microsoft YaHei"/>
              </a:rPr>
              <a:t>導演、三幕、OpenRouter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097280"/>
            <a:ext cx="3657600" cy="1298448"/>
          </a:xfrm>
          <a:prstGeom prst="roundRect">
            <a:avLst/>
          </a:prstGeom>
          <a:solidFill>
            <a:srgbClr val="14100A"/>
          </a:solidFill>
          <a:ln w="1587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243584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7EC8C3"/>
                </a:solidFill>
                <a:latin typeface="Microsoft YaHei"/>
                <a:ea typeface="Microsoft YaHei"/>
              </a:rPr>
              <a:t>main.js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166420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F4E8C8"/>
                </a:solidFill>
                <a:latin typeface="Microsoft YaHei"/>
                <a:ea typeface="Microsoft YaHei"/>
              </a:rPr>
              <a:t>HUD、地圖、檢視、操作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542032"/>
            <a:ext cx="3657600" cy="1298448"/>
          </a:xfrm>
          <a:prstGeom prst="roundRect">
            <a:avLst/>
          </a:prstGeom>
          <a:solidFill>
            <a:srgbClr val="14100A"/>
          </a:solidFill>
          <a:ln w="1587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688336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7EC8C3"/>
                </a:solidFill>
                <a:latin typeface="Microsoft YaHei"/>
                <a:ea typeface="Microsoft YaHei"/>
              </a:rPr>
              <a:t>style.css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10896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F4E8C8"/>
                </a:solidFill>
                <a:latin typeface="Microsoft YaHei"/>
                <a:ea typeface="Microsoft YaHei"/>
              </a:rPr>
              <a:t>金漆牌坊、墨底描金、父印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80" y="2542032"/>
            <a:ext cx="3657600" cy="1298448"/>
          </a:xfrm>
          <a:prstGeom prst="roundRect">
            <a:avLst/>
          </a:prstGeom>
          <a:solidFill>
            <a:srgbClr val="14100A"/>
          </a:solidFill>
          <a:ln w="1587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60" y="2688336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7EC8C3"/>
                </a:solidFill>
                <a:latin typeface="Microsoft YaHei"/>
                <a:ea typeface="Microsoft YaHei"/>
              </a:rPr>
              <a:t>fx.js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310896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F4E8C8"/>
                </a:solidFill>
                <a:latin typeface="Microsoft YaHei"/>
                <a:ea typeface="Microsoft YaHei"/>
              </a:rPr>
              <a:t>靈塵、聚氣、突破金光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0" y="2542032"/>
            <a:ext cx="3657600" cy="1298448"/>
          </a:xfrm>
          <a:prstGeom prst="roundRect">
            <a:avLst/>
          </a:prstGeom>
          <a:solidFill>
            <a:srgbClr val="14100A"/>
          </a:solidFill>
          <a:ln w="1587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2688336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7EC8C3"/>
                </a:solidFill>
                <a:latin typeface="Microsoft YaHei"/>
                <a:ea typeface="Microsoft YaHei"/>
              </a:rPr>
              <a:t>audio.js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310896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F4E8C8"/>
                </a:solidFill>
                <a:latin typeface="Microsoft YaHei"/>
                <a:ea typeface="Microsoft YaHei"/>
              </a:rPr>
              <a:t>木魚磬雷 + 嗶哩嵌入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114800"/>
            <a:ext cx="11247120" cy="2084831"/>
          </a:xfrm>
          <a:prstGeom prst="roundRect">
            <a:avLst/>
          </a:prstGeom>
          <a:solidFill>
            <a:srgbClr val="14100A"/>
          </a:solidFill>
          <a:ln w="15875">
            <a:solidFill>
              <a:srgbClr val="7EC8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4242816"/>
            <a:ext cx="10789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7EC8C3"/>
                </a:solidFill>
                <a:latin typeface="Microsoft YaHei"/>
                <a:ea typeface="Microsoft YaHei"/>
              </a:rPr>
              <a:t>畫面　demoArt.js 捆演示畫 → illustrate.js 背景出 512 檔圖 → 靜默重試 → 畫好先換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F4E8C8"/>
                </a:solidFill>
                <a:latin typeface="Microsoft YaHei"/>
                <a:ea typeface="Microsoft YaHei"/>
              </a:rPr>
              <a:t>日常　改規則或文案 → npm run dev → 現場睇一場戲 → git commit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F4E8C8"/>
                </a:solidFill>
                <a:latin typeface="Microsoft YaHei"/>
                <a:ea typeface="Microsoft YaHei"/>
              </a:rPr>
              <a:t>出貨　npm run build → 將 dist 推去 gh-pages → https://yip-lgtm.github.io/family/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B8A888"/>
                </a:solidFill>
                <a:latin typeface="Microsoft YaHei"/>
                <a:ea typeface="Microsoft YaHei"/>
              </a:rPr>
              <a:t>約束　唔下載嗶哩音源 · 唔抄《教父》對白 · Key 只存瀏覽器 · 演示畫永遠兜底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80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74980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B8A888"/>
                </a:solidFill>
                <a:latin typeface="Microsoft YaHei"/>
                <a:ea typeface="Microsoft YaHei"/>
              </a:rPr>
              <a:t>教父世家  ·  THE FAMILY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6473952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B8A888"/>
                </a:solidFill>
                <a:latin typeface="Microsoft YaHei"/>
                <a:ea typeface="Microsoft YaHei"/>
              </a:rPr>
              <a:t>10  / 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D4AF37"/>
                </a:solidFill>
                <a:latin typeface="Microsoft YaHei"/>
                <a:ea typeface="Microsoft YaHei"/>
              </a:rPr>
              <a:t>09  ·  而家點玩（三分鐘）</a:t>
            </a:r>
          </a:p>
          <a:p>
            <a:pPr algn="l">
              <a:spcAft>
                <a:spcPts val="600"/>
              </a:spcAft>
            </a:pPr>
            <a:r>
              <a:rPr sz="2800" b="1">
                <a:solidFill>
                  <a:srgbClr val="F4E8C8"/>
                </a:solidFill>
                <a:latin typeface="Microsoft YaHei"/>
                <a:ea typeface="Microsoft YaHei"/>
              </a:rPr>
              <a:t>四步入局，唔使註冊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07008"/>
            <a:ext cx="2743200" cy="4434840"/>
          </a:xfrm>
          <a:prstGeom prst="roundRect">
            <a:avLst/>
          </a:prstGeom>
          <a:solidFill>
            <a:srgbClr val="14100A"/>
          </a:solidFill>
          <a:ln w="1587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600" b="1">
                <a:solidFill>
                  <a:srgbClr val="D4AF37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4884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4E8C8"/>
                </a:solidFill>
                <a:latin typeface="Microsoft YaHei"/>
                <a:ea typeface="Microsoft YaHei"/>
              </a:rPr>
              <a:t>打開連結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880360"/>
            <a:ext cx="24688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B8A888"/>
                </a:solidFill>
                <a:latin typeface="Microsoft YaHei"/>
                <a:ea typeface="Microsoft YaHei"/>
              </a:rPr>
              <a:t>yip-lgtm.github.io/family
撳「承天命」。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1207008"/>
            <a:ext cx="2743200" cy="4434840"/>
          </a:xfrm>
          <a:prstGeom prst="roundRect">
            <a:avLst/>
          </a:prstGeom>
          <a:solidFill>
            <a:srgbClr val="14100A"/>
          </a:solidFill>
          <a:ln w="1587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141732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600" b="1">
                <a:solidFill>
                  <a:srgbClr val="D4AF37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14884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4E8C8"/>
                </a:solidFill>
                <a:latin typeface="Microsoft YaHei"/>
                <a:ea typeface="Microsoft YaHei"/>
              </a:rPr>
              <a:t>睇一個人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880360"/>
            <a:ext cx="24688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B8A888"/>
                </a:solidFill>
                <a:latin typeface="Microsoft YaHei"/>
                <a:ea typeface="Microsoft YaHei"/>
              </a:rPr>
              <a:t>點沈清梧或者葉疏影。
畫像即見，記住心事。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207008"/>
            <a:ext cx="2743200" cy="4434840"/>
          </a:xfrm>
          <a:prstGeom prst="roundRect">
            <a:avLst/>
          </a:prstGeom>
          <a:solidFill>
            <a:srgbClr val="14100A"/>
          </a:solidFill>
          <a:ln w="1587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41732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600" b="1">
                <a:solidFill>
                  <a:srgbClr val="D4AF37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14884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4E8C8"/>
                </a:solidFill>
                <a:latin typeface="Microsoft YaHei"/>
                <a:ea typeface="Microsoft YaHei"/>
              </a:rPr>
              <a:t>等兩場戲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880360"/>
            <a:ext cx="24688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B8A888"/>
                </a:solidFill>
                <a:latin typeface="Microsoft YaHei"/>
                <a:ea typeface="Microsoft YaHei"/>
              </a:rPr>
              <a:t>開時間。睇編劇組出第一、第二場——場次都有演示畫。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35440" y="1207008"/>
            <a:ext cx="2743200" cy="4434840"/>
          </a:xfrm>
          <a:prstGeom prst="roundRect">
            <a:avLst/>
          </a:prstGeom>
          <a:solidFill>
            <a:srgbClr val="14100A"/>
          </a:solidFill>
          <a:ln w="1587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0" y="141732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600" b="1">
                <a:solidFill>
                  <a:srgbClr val="D4AF37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214884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4E8C8"/>
                </a:solidFill>
                <a:latin typeface="Microsoft YaHei"/>
                <a:ea typeface="Microsoft YaHei"/>
              </a:rPr>
              <a:t>先改一次命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72600" y="2880360"/>
            <a:ext cx="24688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B8A888"/>
                </a:solidFill>
                <a:latin typeface="Microsoft YaHei"/>
                <a:ea typeface="Microsoft YaHei"/>
              </a:rPr>
              <a:t>賜福或者天劫。
然後停手，睇後果。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80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5696712" y="658368"/>
            <a:ext cx="749808" cy="749808"/>
          </a:xfrm>
          <a:prstGeom prst="diamond">
            <a:avLst/>
          </a:prstGeom>
          <a:solidFill>
            <a:srgbClr val="16120C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96712" y="868314"/>
            <a:ext cx="749808" cy="3599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D4AF37"/>
                </a:solidFill>
                <a:latin typeface="Microsoft YaHei"/>
                <a:ea typeface="Microsoft YaHei"/>
              </a:rPr>
              <a:t>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81328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D4AF37"/>
                </a:solidFill>
                <a:latin typeface="Microsoft YaHei"/>
                <a:ea typeface="Microsoft YaHei"/>
              </a:rPr>
              <a:t>結  ·  家訓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01952"/>
            <a:ext cx="106984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F37"/>
                </a:solidFill>
                <a:latin typeface="Microsoft YaHei"/>
                <a:ea typeface="Microsoft YaHei"/>
              </a:rPr>
              <a:t>人死功法在。家在，戲就未完。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54680"/>
            <a:ext cx="10698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7EC8C3"/>
                </a:solidFill>
                <a:latin typeface="Microsoft YaHei"/>
                <a:ea typeface="Microsoft YaHei"/>
              </a:rPr>
              <a:t>玩　　https://yip-lgtm.github.io/family/</a:t>
            </a:r>
          </a:p>
          <a:p>
            <a:pPr algn="ctr">
              <a:spcAft>
                <a:spcPts val="600"/>
              </a:spcAft>
            </a:pPr>
            <a:r>
              <a:rPr sz="1800" b="0">
                <a:solidFill>
                  <a:srgbClr val="B8A888"/>
                </a:solidFill>
                <a:latin typeface="Microsoft YaHei"/>
                <a:ea typeface="Microsoft YaHei"/>
              </a:rPr>
              <a:t>源碼　https://github.com/yip-lgtm/family.git</a:t>
            </a:r>
          </a:p>
          <a:p>
            <a:pPr algn="ctr">
              <a:spcAft>
                <a:spcPts val="600"/>
              </a:spcAft>
            </a:pPr>
            <a:r>
              <a:rPr sz="1600" b="0">
                <a:solidFill>
                  <a:srgbClr val="B8A888"/>
                </a:solidFill>
                <a:latin typeface="Microsoft YaHei"/>
                <a:ea typeface="Microsoft YaHei"/>
              </a:rPr>
              <a:t>鏡像　https://github.com/yip-lgtm/qi-lineage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937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B8A888"/>
                </a:solidFill>
                <a:latin typeface="Microsoft YaHei"/>
                <a:ea typeface="Microsoft YaHei"/>
              </a:rPr>
              <a:t>開源 · 瀏覽器即玩 · Key 可選 · 演示畫永遠在 · 劇組永遠代班</a:t>
            </a:r>
          </a:p>
          <a:p>
            <a:pPr algn="ctr">
              <a:spcAft>
                <a:spcPts val="600"/>
              </a:spcAft>
            </a:pPr>
            <a:r>
              <a:rPr sz="1400" b="0">
                <a:solidFill>
                  <a:srgbClr val="D4AF37"/>
                </a:solidFill>
                <a:latin typeface="Microsoft YaHei"/>
                <a:ea typeface="Microsoft YaHei"/>
              </a:rPr>
              <a:t>THE FAMILY  ·  教父山門  ·  GODFATHER GATE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